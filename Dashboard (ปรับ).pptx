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7D4AA8"/>
    <a:srgbClr val="FFFFFF"/>
    <a:srgbClr val="FF5050"/>
    <a:srgbClr val="F3B21B"/>
    <a:srgbClr val="007C89"/>
    <a:srgbClr val="06336B"/>
    <a:srgbClr val="AEB3BC"/>
    <a:srgbClr val="0A2E6D"/>
    <a:srgbClr val="389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96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MBDMCR onmbdmcr" userId="a8d9debd90b79321" providerId="LiveId" clId="{A85A2389-79D6-451E-8074-CB92290851EB}"/>
    <pc:docChg chg="undo custSel modSld">
      <pc:chgData name="ONMBDMCR onmbdmcr" userId="a8d9debd90b79321" providerId="LiveId" clId="{A85A2389-79D6-451E-8074-CB92290851EB}" dt="2026-08-05T08:10:43.896" v="326"/>
      <pc:docMkLst>
        <pc:docMk/>
      </pc:docMkLst>
      <pc:sldChg chg="addSp delSp modSp mod">
        <pc:chgData name="ONMBDMCR onmbdmcr" userId="a8d9debd90b79321" providerId="LiveId" clId="{A85A2389-79D6-451E-8074-CB92290851EB}" dt="2026-08-05T07:55:35.031" v="324" actId="1076"/>
        <pc:sldMkLst>
          <pc:docMk/>
          <pc:sldMk cId="0" sldId="256"/>
        </pc:sldMkLst>
        <pc:spChg chg="del">
          <ac:chgData name="ONMBDMCR onmbdmcr" userId="a8d9debd90b79321" providerId="LiveId" clId="{A85A2389-79D6-451E-8074-CB92290851EB}" dt="2026-08-05T07:54:20.234" v="308" actId="478"/>
          <ac:spMkLst>
            <pc:docMk/>
            <pc:sldMk cId="0" sldId="256"/>
            <ac:spMk id="30" creationId="{00000000-0000-0000-0000-000000000000}"/>
          </ac:spMkLst>
        </pc:spChg>
        <pc:spChg chg="del">
          <ac:chgData name="ONMBDMCR onmbdmcr" userId="a8d9debd90b79321" providerId="LiveId" clId="{A85A2389-79D6-451E-8074-CB92290851EB}" dt="2026-08-05T07:54:33.775" v="311" actId="478"/>
          <ac:spMkLst>
            <pc:docMk/>
            <pc:sldMk cId="0" sldId="256"/>
            <ac:spMk id="36" creationId="{00000000-0000-0000-0000-000000000000}"/>
          </ac:spMkLst>
        </pc:spChg>
        <pc:spChg chg="del">
          <ac:chgData name="ONMBDMCR onmbdmcr" userId="a8d9debd90b79321" providerId="LiveId" clId="{A85A2389-79D6-451E-8074-CB92290851EB}" dt="2026-08-05T07:55:10.336" v="318" actId="478"/>
          <ac:spMkLst>
            <pc:docMk/>
            <pc:sldMk cId="0" sldId="256"/>
            <ac:spMk id="53" creationId="{00000000-0000-0000-0000-000000000000}"/>
          </ac:spMkLst>
        </pc:spChg>
        <pc:spChg chg="del">
          <ac:chgData name="ONMBDMCR onmbdmcr" userId="a8d9debd90b79321" providerId="LiveId" clId="{A85A2389-79D6-451E-8074-CB92290851EB}" dt="2026-08-05T07:55:13.457" v="319" actId="478"/>
          <ac:spMkLst>
            <pc:docMk/>
            <pc:sldMk cId="0" sldId="256"/>
            <ac:spMk id="54" creationId="{00000000-0000-0000-0000-000000000000}"/>
          </ac:spMkLst>
        </pc:spChg>
        <pc:spChg chg="add mod">
          <ac:chgData name="ONMBDMCR onmbdmcr" userId="a8d9debd90b79321" providerId="LiveId" clId="{A85A2389-79D6-451E-8074-CB92290851EB}" dt="2026-08-05T07:55:31.377" v="322" actId="20577"/>
          <ac:spMkLst>
            <pc:docMk/>
            <pc:sldMk cId="0" sldId="256"/>
            <ac:spMk id="120" creationId="{B6014B62-0B6B-DD9E-B218-07BB6D67CB89}"/>
          </ac:spMkLst>
        </pc:spChg>
        <pc:spChg chg="add mod">
          <ac:chgData name="ONMBDMCR onmbdmcr" userId="a8d9debd90b79321" providerId="LiveId" clId="{A85A2389-79D6-451E-8074-CB92290851EB}" dt="2026-08-05T07:55:35.031" v="324" actId="1076"/>
          <ac:spMkLst>
            <pc:docMk/>
            <pc:sldMk cId="0" sldId="256"/>
            <ac:spMk id="121" creationId="{374FCAD8-2326-FB44-AF25-6169287BC44E}"/>
          </ac:spMkLst>
        </pc:spChg>
        <pc:grpChg chg="del">
          <ac:chgData name="ONMBDMCR onmbdmcr" userId="a8d9debd90b79321" providerId="LiveId" clId="{A85A2389-79D6-451E-8074-CB92290851EB}" dt="2026-08-05T07:54:33.775" v="311" actId="478"/>
          <ac:grpSpMkLst>
            <pc:docMk/>
            <pc:sldMk cId="0" sldId="256"/>
            <ac:grpSpMk id="14" creationId="{9DB82E1F-1696-361E-ECF9-DEEDF76F5D5B}"/>
          </ac:grpSpMkLst>
        </pc:grpChg>
        <pc:picChg chg="add mod">
          <ac:chgData name="ONMBDMCR onmbdmcr" userId="a8d9debd90b79321" providerId="LiveId" clId="{A85A2389-79D6-451E-8074-CB92290851EB}" dt="2026-08-05T07:54:25.424" v="310" actId="1076"/>
          <ac:picMkLst>
            <pc:docMk/>
            <pc:sldMk cId="0" sldId="256"/>
            <ac:picMk id="4" creationId="{467FD73B-79A1-85A9-A0D0-4C27CD3571AE}"/>
          </ac:picMkLst>
        </pc:picChg>
        <pc:picChg chg="add mod">
          <ac:chgData name="ONMBDMCR onmbdmcr" userId="a8d9debd90b79321" providerId="LiveId" clId="{A85A2389-79D6-451E-8074-CB92290851EB}" dt="2026-08-05T07:54:39.487" v="313" actId="1076"/>
          <ac:picMkLst>
            <pc:docMk/>
            <pc:sldMk cId="0" sldId="256"/>
            <ac:picMk id="117" creationId="{AEAC4D33-FBFA-CD38-BE77-A0DE45909A72}"/>
          </ac:picMkLst>
        </pc:picChg>
        <pc:picChg chg="add mod">
          <ac:chgData name="ONMBDMCR onmbdmcr" userId="a8d9debd90b79321" providerId="LiveId" clId="{A85A2389-79D6-451E-8074-CB92290851EB}" dt="2026-08-05T07:54:48.384" v="315" actId="1076"/>
          <ac:picMkLst>
            <pc:docMk/>
            <pc:sldMk cId="0" sldId="256"/>
            <ac:picMk id="118" creationId="{033A8DC0-DC08-752C-6FE2-877D2CB6CB42}"/>
          </ac:picMkLst>
        </pc:picChg>
        <pc:picChg chg="add mod">
          <ac:chgData name="ONMBDMCR onmbdmcr" userId="a8d9debd90b79321" providerId="LiveId" clId="{A85A2389-79D6-451E-8074-CB92290851EB}" dt="2026-08-05T07:54:57.591" v="317" actId="1076"/>
          <ac:picMkLst>
            <pc:docMk/>
            <pc:sldMk cId="0" sldId="256"/>
            <ac:picMk id="119" creationId="{3996B8DA-4CB0-3CE3-7556-A535E365190D}"/>
          </ac:picMkLst>
        </pc:picChg>
      </pc:sldChg>
      <pc:sldChg chg="addSp modSp">
        <pc:chgData name="ONMBDMCR onmbdmcr" userId="a8d9debd90b79321" providerId="LiveId" clId="{A85A2389-79D6-451E-8074-CB92290851EB}" dt="2026-08-05T07:55:49.185" v="325"/>
        <pc:sldMkLst>
          <pc:docMk/>
          <pc:sldMk cId="0" sldId="257"/>
        </pc:sldMkLst>
        <pc:picChg chg="add mod">
          <ac:chgData name="ONMBDMCR onmbdmcr" userId="a8d9debd90b79321" providerId="LiveId" clId="{A85A2389-79D6-451E-8074-CB92290851EB}" dt="2026-08-05T07:55:49.185" v="325"/>
          <ac:picMkLst>
            <pc:docMk/>
            <pc:sldMk cId="0" sldId="257"/>
            <ac:picMk id="15" creationId="{F7086D5D-6F97-B83C-4CA8-A4F609B94748}"/>
          </ac:picMkLst>
        </pc:picChg>
      </pc:sldChg>
      <pc:sldChg chg="modSp mod">
        <pc:chgData name="ONMBDMCR onmbdmcr" userId="a8d9debd90b79321" providerId="LiveId" clId="{A85A2389-79D6-451E-8074-CB92290851EB}" dt="2026-08-05T07:38:26.408" v="60" actId="20577"/>
        <pc:sldMkLst>
          <pc:docMk/>
          <pc:sldMk cId="0" sldId="258"/>
        </pc:sldMkLst>
        <pc:spChg chg="mod">
          <ac:chgData name="ONMBDMCR onmbdmcr" userId="a8d9debd90b79321" providerId="LiveId" clId="{A85A2389-79D6-451E-8074-CB92290851EB}" dt="2026-08-05T07:37:48.640" v="0" actId="20577"/>
          <ac:spMkLst>
            <pc:docMk/>
            <pc:sldMk cId="0" sldId="258"/>
            <ac:spMk id="69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38:16.498" v="30" actId="20577"/>
          <ac:spMkLst>
            <pc:docMk/>
            <pc:sldMk cId="0" sldId="258"/>
            <ac:spMk id="78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38:26.408" v="60" actId="20577"/>
          <ac:spMkLst>
            <pc:docMk/>
            <pc:sldMk cId="0" sldId="258"/>
            <ac:spMk id="87" creationId="{00000000-0000-0000-0000-000000000000}"/>
          </ac:spMkLst>
        </pc:spChg>
      </pc:sldChg>
      <pc:sldChg chg="addSp delSp modSp mod">
        <pc:chgData name="ONMBDMCR onmbdmcr" userId="a8d9debd90b79321" providerId="LiveId" clId="{A85A2389-79D6-451E-8074-CB92290851EB}" dt="2026-08-05T08:10:43.896" v="326"/>
        <pc:sldMkLst>
          <pc:docMk/>
          <pc:sldMk cId="0" sldId="259"/>
        </pc:sldMkLst>
        <pc:spChg chg="mod">
          <ac:chgData name="ONMBDMCR onmbdmcr" userId="a8d9debd90b79321" providerId="LiveId" clId="{A85A2389-79D6-451E-8074-CB92290851EB}" dt="2026-08-05T08:10:43.896" v="326"/>
          <ac:spMkLst>
            <pc:docMk/>
            <pc:sldMk cId="0" sldId="259"/>
            <ac:spMk id="5" creationId="{00000000-0000-0000-0000-000000000000}"/>
          </ac:spMkLst>
        </pc:spChg>
        <pc:spChg chg="del">
          <ac:chgData name="ONMBDMCR onmbdmcr" userId="a8d9debd90b79321" providerId="LiveId" clId="{A85A2389-79D6-451E-8074-CB92290851EB}" dt="2026-08-05T07:46:28.138" v="120" actId="478"/>
          <ac:spMkLst>
            <pc:docMk/>
            <pc:sldMk cId="0" sldId="259"/>
            <ac:spMk id="52" creationId="{B9E25968-9226-8ECD-B98F-A033083F0B9B}"/>
          </ac:spMkLst>
        </pc:spChg>
        <pc:spChg chg="mod">
          <ac:chgData name="ONMBDMCR onmbdmcr" userId="a8d9debd90b79321" providerId="LiveId" clId="{A85A2389-79D6-451E-8074-CB92290851EB}" dt="2026-08-05T07:49:57.307" v="186" actId="164"/>
          <ac:spMkLst>
            <pc:docMk/>
            <pc:sldMk cId="0" sldId="259"/>
            <ac:spMk id="87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49:57.307" v="186" actId="164"/>
          <ac:spMkLst>
            <pc:docMk/>
            <pc:sldMk cId="0" sldId="259"/>
            <ac:spMk id="88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3:42.591" v="307" actId="1076"/>
          <ac:spMkLst>
            <pc:docMk/>
            <pc:sldMk cId="0" sldId="259"/>
            <ac:spMk id="89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3:02.463" v="299" actId="1037"/>
          <ac:spMkLst>
            <pc:docMk/>
            <pc:sldMk cId="0" sldId="259"/>
            <ac:spMk id="92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2:47.047" v="294" actId="20577"/>
          <ac:spMkLst>
            <pc:docMk/>
            <pc:sldMk cId="0" sldId="259"/>
            <ac:spMk id="94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3:00.287" v="297" actId="1076"/>
          <ac:spMkLst>
            <pc:docMk/>
            <pc:sldMk cId="0" sldId="259"/>
            <ac:spMk id="95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2:12.671" v="284" actId="14100"/>
          <ac:spMkLst>
            <pc:docMk/>
            <pc:sldMk cId="0" sldId="259"/>
            <ac:spMk id="98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2:04.729" v="282" actId="164"/>
          <ac:spMkLst>
            <pc:docMk/>
            <pc:sldMk cId="0" sldId="259"/>
            <ac:spMk id="100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2:18.295" v="285" actId="1076"/>
          <ac:spMkLst>
            <pc:docMk/>
            <pc:sldMk cId="0" sldId="259"/>
            <ac:spMk id="101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1:42.023" v="276" actId="164"/>
          <ac:spMkLst>
            <pc:docMk/>
            <pc:sldMk cId="0" sldId="259"/>
            <ac:spMk id="104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1:42.023" v="276" actId="164"/>
          <ac:spMkLst>
            <pc:docMk/>
            <pc:sldMk cId="0" sldId="259"/>
            <ac:spMk id="106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1:29.423" v="273" actId="1076"/>
          <ac:spMkLst>
            <pc:docMk/>
            <pc:sldMk cId="0" sldId="259"/>
            <ac:spMk id="107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0:55.072" v="262" actId="164"/>
          <ac:spMkLst>
            <pc:docMk/>
            <pc:sldMk cId="0" sldId="259"/>
            <ac:spMk id="110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0:55.072" v="262" actId="164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0:51.228" v="261" actId="1038"/>
          <ac:spMkLst>
            <pc:docMk/>
            <pc:sldMk cId="0" sldId="259"/>
            <ac:spMk id="113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1:16.719" v="266" actId="14100"/>
          <ac:spMkLst>
            <pc:docMk/>
            <pc:sldMk cId="0" sldId="259"/>
            <ac:spMk id="116" creationId="{00000000-0000-0000-0000-000000000000}"/>
          </ac:spMkLst>
        </pc:spChg>
        <pc:spChg chg="mod">
          <ac:chgData name="ONMBDMCR onmbdmcr" userId="a8d9debd90b79321" providerId="LiveId" clId="{A85A2389-79D6-451E-8074-CB92290851EB}" dt="2026-08-05T07:51:07.191" v="264" actId="14100"/>
          <ac:spMkLst>
            <pc:docMk/>
            <pc:sldMk cId="0" sldId="259"/>
            <ac:spMk id="118" creationId="{00000000-0000-0000-0000-000000000000}"/>
          </ac:spMkLst>
        </pc:spChg>
        <pc:spChg chg="del">
          <ac:chgData name="ONMBDMCR onmbdmcr" userId="a8d9debd90b79321" providerId="LiveId" clId="{A85A2389-79D6-451E-8074-CB92290851EB}" dt="2026-08-05T07:46:31.513" v="121" actId="478"/>
          <ac:spMkLst>
            <pc:docMk/>
            <pc:sldMk cId="0" sldId="259"/>
            <ac:spMk id="121" creationId="{00000000-0000-0000-0000-000000000000}"/>
          </ac:spMkLst>
        </pc:spChg>
        <pc:grpChg chg="mod">
          <ac:chgData name="ONMBDMCR onmbdmcr" userId="a8d9debd90b79321" providerId="LiveId" clId="{A85A2389-79D6-451E-8074-CB92290851EB}" dt="2026-08-05T07:52:56.055" v="296" actId="1076"/>
          <ac:grpSpMkLst>
            <pc:docMk/>
            <pc:sldMk cId="0" sldId="259"/>
            <ac:grpSpMk id="6" creationId="{166B923F-BE7C-AD58-D618-E7CC3427DFAE}"/>
          </ac:grpSpMkLst>
        </pc:grpChg>
        <pc:grpChg chg="add mod">
          <ac:chgData name="ONMBDMCR onmbdmcr" userId="a8d9debd90b79321" providerId="LiveId" clId="{A85A2389-79D6-451E-8074-CB92290851EB}" dt="2026-08-05T07:50:18.734" v="188" actId="164"/>
          <ac:grpSpMkLst>
            <pc:docMk/>
            <pc:sldMk cId="0" sldId="259"/>
            <ac:grpSpMk id="8" creationId="{4D63FB65-EA27-A620-4090-ED285C556DF3}"/>
          </ac:grpSpMkLst>
        </pc:grpChg>
        <pc:grpChg chg="add mod">
          <ac:chgData name="ONMBDMCR onmbdmcr" userId="a8d9debd90b79321" providerId="LiveId" clId="{A85A2389-79D6-451E-8074-CB92290851EB}" dt="2026-08-05T07:53:34.143" v="306" actId="14100"/>
          <ac:grpSpMkLst>
            <pc:docMk/>
            <pc:sldMk cId="0" sldId="259"/>
            <ac:grpSpMk id="9" creationId="{E6DD5843-480C-BD01-1274-EB24AFDC7641}"/>
          </ac:grpSpMkLst>
        </pc:grpChg>
        <pc:grpChg chg="add mod">
          <ac:chgData name="ONMBDMCR onmbdmcr" userId="a8d9debd90b79321" providerId="LiveId" clId="{A85A2389-79D6-451E-8074-CB92290851EB}" dt="2026-08-05T07:52:35.591" v="290" actId="14100"/>
          <ac:grpSpMkLst>
            <pc:docMk/>
            <pc:sldMk cId="0" sldId="259"/>
            <ac:grpSpMk id="10" creationId="{AB562F19-F37A-1B27-E769-9065B096F127}"/>
          </ac:grpSpMkLst>
        </pc:grpChg>
        <pc:grpChg chg="add mod">
          <ac:chgData name="ONMBDMCR onmbdmcr" userId="a8d9debd90b79321" providerId="LiveId" clId="{A85A2389-79D6-451E-8074-CB92290851EB}" dt="2026-08-05T07:51:02.575" v="263" actId="1076"/>
          <ac:grpSpMkLst>
            <pc:docMk/>
            <pc:sldMk cId="0" sldId="259"/>
            <ac:grpSpMk id="11" creationId="{A5AEF46A-9631-E223-80E6-FBFEC6A74D2B}"/>
          </ac:grpSpMkLst>
        </pc:grpChg>
        <pc:grpChg chg="add mod">
          <ac:chgData name="ONMBDMCR onmbdmcr" userId="a8d9debd90b79321" providerId="LiveId" clId="{A85A2389-79D6-451E-8074-CB92290851EB}" dt="2026-08-05T07:51:46.431" v="277" actId="1076"/>
          <ac:grpSpMkLst>
            <pc:docMk/>
            <pc:sldMk cId="0" sldId="259"/>
            <ac:grpSpMk id="12" creationId="{3AFA75FA-2163-355A-9B50-BA73E2689F98}"/>
          </ac:grpSpMkLst>
        </pc:grpChg>
        <pc:grpChg chg="add mod">
          <ac:chgData name="ONMBDMCR onmbdmcr" userId="a8d9debd90b79321" providerId="LiveId" clId="{A85A2389-79D6-451E-8074-CB92290851EB}" dt="2026-08-05T07:52:21.247" v="286" actId="1076"/>
          <ac:grpSpMkLst>
            <pc:docMk/>
            <pc:sldMk cId="0" sldId="259"/>
            <ac:grpSpMk id="13" creationId="{134747A1-3AFD-397B-F0DE-39F2740350B5}"/>
          </ac:grpSpMkLst>
        </pc:grpChg>
        <pc:grpChg chg="mod">
          <ac:chgData name="ONMBDMCR onmbdmcr" userId="a8d9debd90b79321" providerId="LiveId" clId="{A85A2389-79D6-451E-8074-CB92290851EB}" dt="2026-08-05T07:53:24.407" v="304" actId="1076"/>
          <ac:grpSpMkLst>
            <pc:docMk/>
            <pc:sldMk cId="0" sldId="259"/>
            <ac:grpSpMk id="14" creationId="{9780CD85-29D0-E962-39C1-081CDF2DD871}"/>
          </ac:grpSpMkLst>
        </pc:grpChg>
        <pc:grpChg chg="mod">
          <ac:chgData name="ONMBDMCR onmbdmcr" userId="a8d9debd90b79321" providerId="LiveId" clId="{A85A2389-79D6-451E-8074-CB92290851EB}" dt="2026-08-05T07:53:17.695" v="302" actId="1076"/>
          <ac:grpSpMkLst>
            <pc:docMk/>
            <pc:sldMk cId="0" sldId="259"/>
            <ac:grpSpMk id="17" creationId="{96C4BEF0-B3D0-D8D1-266E-0D0AB440F634}"/>
          </ac:grpSpMkLst>
        </pc:grpChg>
        <pc:grpChg chg="mod">
          <ac:chgData name="ONMBDMCR onmbdmcr" userId="a8d9debd90b79321" providerId="LiveId" clId="{A85A2389-79D6-451E-8074-CB92290851EB}" dt="2026-08-05T07:53:22.111" v="303" actId="1076"/>
          <ac:grpSpMkLst>
            <pc:docMk/>
            <pc:sldMk cId="0" sldId="259"/>
            <ac:grpSpMk id="20" creationId="{0C5A5791-2767-1E65-FC76-C30F3DFEAA8E}"/>
          </ac:grpSpMkLst>
        </pc:grpChg>
        <pc:grpChg chg="mod">
          <ac:chgData name="ONMBDMCR onmbdmcr" userId="a8d9debd90b79321" providerId="LiveId" clId="{A85A2389-79D6-451E-8074-CB92290851EB}" dt="2026-08-05T07:53:29.615" v="305" actId="1076"/>
          <ac:grpSpMkLst>
            <pc:docMk/>
            <pc:sldMk cId="0" sldId="259"/>
            <ac:grpSpMk id="132" creationId="{8A6814FB-230E-807A-9212-E55F237C65B2}"/>
          </ac:grpSpMkLst>
        </pc:grpChg>
      </pc:sldChg>
      <pc:sldChg chg="modSp mod">
        <pc:chgData name="ONMBDMCR onmbdmcr" userId="a8d9debd90b79321" providerId="LiveId" clId="{A85A2389-79D6-451E-8074-CB92290851EB}" dt="2026-08-05T07:45:29.100" v="119" actId="1036"/>
        <pc:sldMkLst>
          <pc:docMk/>
          <pc:sldMk cId="0" sldId="260"/>
        </pc:sldMkLst>
        <pc:spChg chg="mod">
          <ac:chgData name="ONMBDMCR onmbdmcr" userId="a8d9debd90b79321" providerId="LiveId" clId="{A85A2389-79D6-451E-8074-CB92290851EB}" dt="2026-08-05T07:44:38.721" v="118" actId="14100"/>
          <ac:spMkLst>
            <pc:docMk/>
            <pc:sldMk cId="0" sldId="260"/>
            <ac:spMk id="112" creationId="{00000000-0000-0000-0000-000000000000}"/>
          </ac:spMkLst>
        </pc:spChg>
        <pc:graphicFrameChg chg="modGraphic">
          <ac:chgData name="ONMBDMCR onmbdmcr" userId="a8d9debd90b79321" providerId="LiveId" clId="{A85A2389-79D6-451E-8074-CB92290851EB}" dt="2026-08-05T07:43:39.659" v="109" actId="6549"/>
          <ac:graphicFrameMkLst>
            <pc:docMk/>
            <pc:sldMk cId="0" sldId="260"/>
            <ac:graphicFrameMk id="7" creationId="{15F734AD-2480-6740-810B-39E474D0C783}"/>
          </ac:graphicFrameMkLst>
        </pc:graphicFrameChg>
        <pc:graphicFrameChg chg="mod">
          <ac:chgData name="ONMBDMCR onmbdmcr" userId="a8d9debd90b79321" providerId="LiveId" clId="{A85A2389-79D6-451E-8074-CB92290851EB}" dt="2026-08-05T07:45:29.100" v="119" actId="1036"/>
          <ac:graphicFrameMkLst>
            <pc:docMk/>
            <pc:sldMk cId="0" sldId="260"/>
            <ac:graphicFrameMk id="19" creationId="{44121361-C020-45F8-1657-AA493D409A8A}"/>
          </ac:graphicFrameMkLst>
        </pc:graphicFrameChg>
        <pc:graphicFrameChg chg="modGraphic">
          <ac:chgData name="ONMBDMCR onmbdmcr" userId="a8d9debd90b79321" providerId="LiveId" clId="{A85A2389-79D6-451E-8074-CB92290851EB}" dt="2026-08-05T07:44:32.854" v="117" actId="14100"/>
          <ac:graphicFrameMkLst>
            <pc:docMk/>
            <pc:sldMk cId="0" sldId="260"/>
            <ac:graphicFrameMk id="11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075121287735721E-2"/>
          <c:y val="0.12452100402343326"/>
          <c:w val="0.78927203065134099"/>
          <c:h val="0.7892720306513409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E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9B-469E-9C99-14EDC3917D28}"/>
              </c:ext>
            </c:extLst>
          </c:dPt>
          <c:dPt>
            <c:idx val="1"/>
            <c:bubble3D val="0"/>
            <c:spPr>
              <a:solidFill>
                <a:srgbClr val="087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9B-469E-9C99-14EDC3917D28}"/>
              </c:ext>
            </c:extLst>
          </c:dPt>
          <c:dPt>
            <c:idx val="2"/>
            <c:bubble3D val="0"/>
            <c:spPr>
              <a:solidFill>
                <a:srgbClr val="6A4A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9B-469E-9C99-14EDC3917D28}"/>
              </c:ext>
            </c:extLst>
          </c:dPt>
          <c:cat>
            <c:strRef>
              <c:f>Sheet1!$A$2:$A$4</c:f>
              <c:strCache>
                <c:ptCount val="3"/>
                <c:pt idx="0">
                  <c:v>เพื่อทราบ</c:v>
                </c:pt>
                <c:pt idx="1">
                  <c:v>เพื่อพิจารณา</c:v>
                </c:pt>
                <c:pt idx="2">
                  <c:v>เรื่องอื่น 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732</c:v>
                </c:pt>
                <c:pt idx="1">
                  <c:v>268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9B-469E-9C99-14EDC3917D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305361968150439"/>
          <c:y val="9.0943948712039688E-2"/>
          <c:w val="0.81026951364267341"/>
          <c:h val="0.818112102575920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7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DE-41E6-9554-C51953525C70}"/>
              </c:ext>
            </c:extLst>
          </c:dPt>
          <c:dPt>
            <c:idx val="1"/>
            <c:bubble3D val="0"/>
            <c:spPr>
              <a:solidFill>
                <a:srgbClr val="F3B2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DE-41E6-9554-C51953525C70}"/>
              </c:ext>
            </c:extLst>
          </c:dPt>
          <c:dPt>
            <c:idx val="2"/>
            <c:bubble3D val="0"/>
            <c:spPr>
              <a:solidFill>
                <a:srgbClr val="7D4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DE-41E6-9554-C51953525C70}"/>
              </c:ext>
            </c:extLst>
          </c:dPt>
          <c:dPt>
            <c:idx val="3"/>
            <c:bubble3D val="0"/>
            <c:spPr>
              <a:solidFill>
                <a:srgbClr val="6A4A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DE-41E6-9554-C51953525C70}"/>
              </c:ext>
            </c:extLst>
          </c:dPt>
          <c:cat>
            <c:strRef>
              <c:f>Sheet1!$A$2:$A$4</c:f>
              <c:strCache>
                <c:ptCount val="3"/>
                <c:pt idx="0">
                  <c:v>เสร็จสิ้น</c:v>
                </c:pt>
                <c:pt idx="1">
                  <c:v>รอติดตามผล</c:v>
                </c:pt>
                <c:pt idx="2">
                  <c:v>รอเสนอระดับถัดไป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2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ADE-41E6-9554-C51953525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ต้องเร่งรัดติดตาม</c:v>
                </c:pt>
              </c:strCache>
            </c:strRef>
          </c:tx>
          <c:spPr>
            <a:solidFill>
              <a:srgbClr val="F3B21B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การมีส่วนร่วมชุมชนชายฝั่งและภาคีเครือข่าย</c:v>
                </c:pt>
                <c:pt idx="1">
                  <c:v>การป้องกันและแก้ไขปัญหาการกัดเซาะชายฝั่ง</c:v>
                </c:pt>
                <c:pt idx="2">
                  <c:v>การดำเนินงานตามภารกิจกรม</c:v>
                </c:pt>
                <c:pt idx="3">
                  <c:v>การออกกฎหมาย</c:v>
                </c:pt>
                <c:pt idx="4">
                  <c:v>โครงสร้างกลไก การแต่งตั้งและการปรับปรุงองค์ประกอบ</c:v>
                </c:pt>
                <c:pt idx="5">
                  <c:v>นโยบาย แผน และแนวทางการบริหารจัดการ</c:v>
                </c:pt>
                <c:pt idx="6">
                  <c:v>รายงานสถานการณ์ฯ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D2-4DED-808B-7DFB74366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อยู่ระหว่างเสนอระดับถัดไป</c:v>
                </c:pt>
              </c:strCache>
            </c:strRef>
          </c:tx>
          <c:spPr>
            <a:solidFill>
              <a:srgbClr val="7D4AA8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การมีส่วนร่วมชุมชนชายฝั่งและภาคีเครือข่าย</c:v>
                </c:pt>
                <c:pt idx="1">
                  <c:v>การป้องกันและแก้ไขปัญหาการกัดเซาะชายฝั่ง</c:v>
                </c:pt>
                <c:pt idx="2">
                  <c:v>การดำเนินงานตามภารกิจกรม</c:v>
                </c:pt>
                <c:pt idx="3">
                  <c:v>การออกกฎหมาย</c:v>
                </c:pt>
                <c:pt idx="4">
                  <c:v>โครงสร้างกลไก การแต่งตั้งและการปรับปรุงองค์ประกอบ</c:v>
                </c:pt>
                <c:pt idx="5">
                  <c:v>นโยบาย แผน และแนวทางการบริหารจัดการ</c:v>
                </c:pt>
                <c:pt idx="6">
                  <c:v>รายงานสถานการณ์ฯ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D2-4DED-808B-7DFB74366E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เสร็จสิ้น</c:v>
                </c:pt>
              </c:strCache>
            </c:strRef>
          </c:tx>
          <c:spPr>
            <a:solidFill>
              <a:srgbClr val="007C89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การมีส่วนร่วมชุมชนชายฝั่งและภาคีเครือข่าย</c:v>
                </c:pt>
                <c:pt idx="1">
                  <c:v>การป้องกันและแก้ไขปัญหาการกัดเซาะชายฝั่ง</c:v>
                </c:pt>
                <c:pt idx="2">
                  <c:v>การดำเนินงานตามภารกิจกรม</c:v>
                </c:pt>
                <c:pt idx="3">
                  <c:v>การออกกฎหมาย</c:v>
                </c:pt>
                <c:pt idx="4">
                  <c:v>โครงสร้างกลไก การแต่งตั้งและการปรับปรุงองค์ประกอบ</c:v>
                </c:pt>
                <c:pt idx="5">
                  <c:v>นโยบาย แผน และแนวทางการบริหารจัดการ</c:v>
                </c:pt>
                <c:pt idx="6">
                  <c:v>รายงานสถานการณ์ฯ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37</c:v>
                </c:pt>
                <c:pt idx="2">
                  <c:v>10</c:v>
                </c:pt>
                <c:pt idx="3">
                  <c:v>0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D2-4DED-808B-7DFB74366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8015424"/>
        <c:axId val="1768015904"/>
      </c:barChart>
      <c:catAx>
        <c:axId val="1768015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06336B"/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pPr>
            <a:endParaRPr lang="th-TH"/>
          </a:p>
        </c:txPr>
        <c:crossAx val="1768015904"/>
        <c:crosses val="autoZero"/>
        <c:auto val="1"/>
        <c:lblAlgn val="ctr"/>
        <c:lblOffset val="100"/>
        <c:noMultiLvlLbl val="0"/>
      </c:catAx>
      <c:valAx>
        <c:axId val="1768015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pPr>
            <a:endParaRPr lang="th-TH"/>
          </a:p>
        </c:txPr>
        <c:crossAx val="176801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0305342393558126E-2"/>
          <c:y val="1.2433141272301947E-2"/>
          <c:w val="0.22822314809215491"/>
          <c:h val="0.355611825581628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accent1">
                  <a:lumMod val="50000"/>
                </a:schemeClr>
              </a:solidFill>
              <a:latin typeface="TH SarabunPSK" panose="020B0500040200020003" pitchFamily="34" charset="-34"/>
              <a:ea typeface="+mn-ea"/>
              <a:cs typeface="TH SarabunPSK" panose="020B0500040200020003" pitchFamily="34" charset="-34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h-T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0.24011</cdr:x>
      <cdr:y>0.1772</cdr:y>
    </cdr:from>
    <cdr:to>
      <cdr:x>0.52907</cdr:x>
      <cdr:y>0.27447</cdr:y>
    </cdr:to>
    <cdr:sp macro="" textlink="">
      <cdr:nvSpPr>
        <cdr:cNvPr id="2" name="Text 104">
          <a:extLst xmlns:a="http://schemas.openxmlformats.org/drawingml/2006/main">
            <a:ext uri="{FF2B5EF4-FFF2-40B4-BE49-F238E27FC236}">
              <a16:creationId xmlns:a16="http://schemas.microsoft.com/office/drawing/2014/main" id="{AABBD76D-CDD9-D92B-D24A-6E6A94DBC3C7}"/>
            </a:ext>
          </a:extLst>
        </cdr:cNvPr>
        <cdr:cNvSpPr/>
      </cdr:nvSpPr>
      <cdr:spPr>
        <a:xfrm xmlns:a="http://schemas.openxmlformats.org/drawingml/2006/main">
          <a:off x="547107" y="363502"/>
          <a:ext cx="658412" cy="1995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/>
      </cdr:spPr>
      <cdr:txBody>
        <a:bodyPr xmlns:a="http://schemas.openxmlformats.org/drawingml/2006/main" wrap="square" lIns="381" tIns="381" rIns="381" bIns="381" rtlCol="0" anchor="ctr">
          <a:norm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ctr">
            <a:buNone/>
          </a:pPr>
          <a:r>
            <a:rPr lang="en-US" sz="1000" dirty="0">
              <a:solidFill>
                <a:srgbClr val="FFFFFF"/>
              </a:solidFill>
              <a:latin typeface="Prompt" pitchFamily="34" charset="0"/>
              <a:cs typeface="Prompt" pitchFamily="34" charset="-120"/>
            </a:rPr>
            <a:t>6.4%</a:t>
          </a:r>
          <a:endParaRPr lang="en-US" sz="10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3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57"/>
          <p:cNvSpPr/>
          <p:nvPr/>
        </p:nvSpPr>
        <p:spPr>
          <a:xfrm>
            <a:off x="9141095" y="2135842"/>
            <a:ext cx="2670361" cy="452197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2" name="Shape 158"/>
          <p:cNvSpPr/>
          <p:nvPr/>
        </p:nvSpPr>
        <p:spPr>
          <a:xfrm>
            <a:off x="9162713" y="2083528"/>
            <a:ext cx="2648743" cy="329184"/>
          </a:xfrm>
          <a:prstGeom prst="roundRect">
            <a:avLst>
              <a:gd name="adj" fmla="val 13889"/>
            </a:avLst>
          </a:prstGeom>
          <a:solidFill>
            <a:srgbClr val="0A2E6D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822369" y="269621"/>
            <a:ext cx="10949535" cy="33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สรุปภาพรวม</a:t>
            </a:r>
            <a:r>
              <a:rPr lang="th-TH" sz="25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กลไก</a:t>
            </a:r>
            <a:r>
              <a:rPr lang="en-US" sz="25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การดำเนินงาน</a:t>
            </a:r>
            <a:r>
              <a:rPr lang="th-TH" sz="25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และความเชื่อมโยง</a:t>
            </a:r>
            <a:r>
              <a:rPr lang="en-US" sz="25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</a:t>
            </a:r>
            <a:r>
              <a:rPr lang="th-TH" sz="25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คณะกรรมการระดับต่าง ๆ </a:t>
            </a:r>
            <a:endParaRPr lang="en-US" sz="2500" b="1" dirty="0"/>
          </a:p>
        </p:txBody>
      </p:sp>
      <p:sp>
        <p:nvSpPr>
          <p:cNvPr id="13" name="Shape 11"/>
          <p:cNvSpPr/>
          <p:nvPr/>
        </p:nvSpPr>
        <p:spPr>
          <a:xfrm>
            <a:off x="133812" y="1039388"/>
            <a:ext cx="11932920" cy="0"/>
          </a:xfrm>
          <a:prstGeom prst="line">
            <a:avLst/>
          </a:prstGeom>
          <a:noFill/>
          <a:ln w="10160">
            <a:solidFill>
              <a:srgbClr val="A7CBE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3"/>
          <p:cNvSpPr/>
          <p:nvPr/>
        </p:nvSpPr>
        <p:spPr>
          <a:xfrm>
            <a:off x="0" y="6473952"/>
            <a:ext cx="3474720" cy="274320"/>
          </a:xfrm>
          <a:prstGeom prst="arc">
            <a:avLst/>
          </a:prstGeom>
          <a:solidFill>
            <a:srgbClr val="FFFFFF">
              <a:alpha val="0"/>
            </a:srgbClr>
          </a:solidFill>
          <a:ln w="6350">
            <a:solidFill>
              <a:srgbClr val="B8DE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8961120" y="6473952"/>
            <a:ext cx="2834640" cy="274320"/>
          </a:xfrm>
          <a:prstGeom prst="arc">
            <a:avLst/>
          </a:prstGeom>
          <a:solidFill>
            <a:srgbClr val="FFFFFF">
              <a:alpha val="0"/>
            </a:srgbClr>
          </a:solidFill>
          <a:ln w="6350">
            <a:solidFill>
              <a:srgbClr val="B8DE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320040" y="6487668"/>
            <a:ext cx="3474720" cy="274320"/>
          </a:xfrm>
          <a:prstGeom prst="arc">
            <a:avLst/>
          </a:prstGeom>
          <a:solidFill>
            <a:srgbClr val="FFFFFF">
              <a:alpha val="0"/>
            </a:srgbClr>
          </a:solidFill>
          <a:ln w="6350">
            <a:solidFill>
              <a:srgbClr val="B8DE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 17"/>
          <p:cNvSpPr/>
          <p:nvPr/>
        </p:nvSpPr>
        <p:spPr>
          <a:xfrm>
            <a:off x="640080" y="6501384"/>
            <a:ext cx="3474720" cy="274320"/>
          </a:xfrm>
          <a:prstGeom prst="arc">
            <a:avLst/>
          </a:prstGeom>
          <a:solidFill>
            <a:srgbClr val="FFFFFF">
              <a:alpha val="0"/>
            </a:srgbClr>
          </a:solidFill>
          <a:ln w="6350">
            <a:solidFill>
              <a:srgbClr val="B8DE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960120" y="6515100"/>
            <a:ext cx="3474720" cy="274320"/>
          </a:xfrm>
          <a:prstGeom prst="arc">
            <a:avLst/>
          </a:prstGeom>
          <a:solidFill>
            <a:srgbClr val="FFFFFF">
              <a:alpha val="0"/>
            </a:srgbClr>
          </a:solidFill>
          <a:ln w="6350">
            <a:solidFill>
              <a:srgbClr val="B8DEF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2238756" y="1545336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7093BA58-1FC2-1C2C-A303-7E2BB14119D6}"/>
              </a:ext>
            </a:extLst>
          </p:cNvPr>
          <p:cNvGrpSpPr/>
          <p:nvPr/>
        </p:nvGrpSpPr>
        <p:grpSpPr>
          <a:xfrm>
            <a:off x="539071" y="1329569"/>
            <a:ext cx="2120340" cy="685800"/>
            <a:chOff x="188615" y="1191006"/>
            <a:chExt cx="1874520" cy="685800"/>
          </a:xfrm>
        </p:grpSpPr>
        <p:sp>
          <p:nvSpPr>
            <p:cNvPr id="29" name="Shape 27"/>
            <p:cNvSpPr/>
            <p:nvPr/>
          </p:nvSpPr>
          <p:spPr>
            <a:xfrm>
              <a:off x="188615" y="1191006"/>
              <a:ext cx="1874520" cy="68580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Text 30"/>
            <p:cNvSpPr/>
            <p:nvPr/>
          </p:nvSpPr>
          <p:spPr>
            <a:xfrm>
              <a:off x="691535" y="1273302"/>
              <a:ext cx="1307592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ปีงบประมาณ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18967" y="1456182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A2E6D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2567–2568</a:t>
              </a:r>
              <a:endParaRPr lang="en-US" sz="1800" dirty="0"/>
            </a:p>
          </p:txBody>
        </p:sp>
      </p:grpSp>
      <p:grpSp>
        <p:nvGrpSpPr>
          <p:cNvPr id="18" name="กลุ่ม 17">
            <a:extLst>
              <a:ext uri="{FF2B5EF4-FFF2-40B4-BE49-F238E27FC236}">
                <a16:creationId xmlns:a16="http://schemas.microsoft.com/office/drawing/2014/main" id="{15CAC36D-E88D-D73D-F74F-7210A4D6BE39}"/>
              </a:ext>
            </a:extLst>
          </p:cNvPr>
          <p:cNvGrpSpPr/>
          <p:nvPr/>
        </p:nvGrpSpPr>
        <p:grpSpPr>
          <a:xfrm>
            <a:off x="2819826" y="1321833"/>
            <a:ext cx="2229263" cy="696653"/>
            <a:chOff x="2257642" y="1179957"/>
            <a:chExt cx="1874520" cy="696653"/>
          </a:xfrm>
        </p:grpSpPr>
        <p:sp>
          <p:nvSpPr>
            <p:cNvPr id="34" name="Shape 32"/>
            <p:cNvSpPr/>
            <p:nvPr/>
          </p:nvSpPr>
          <p:spPr>
            <a:xfrm>
              <a:off x="2257642" y="1179957"/>
              <a:ext cx="1874520" cy="68580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Shape 33"/>
            <p:cNvSpPr/>
            <p:nvPr/>
          </p:nvSpPr>
          <p:spPr>
            <a:xfrm>
              <a:off x="2459214" y="1293519"/>
              <a:ext cx="384048" cy="384048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7" name="Text 35"/>
            <p:cNvSpPr/>
            <p:nvPr/>
          </p:nvSpPr>
          <p:spPr>
            <a:xfrm>
              <a:off x="2755990" y="1273106"/>
              <a:ext cx="1307592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วาระทั้งหมด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746846" y="1447011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A2E6D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1,068</a:t>
              </a:r>
              <a:endParaRPr lang="en-US" sz="18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2746846" y="1712018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เรื่อง</a:t>
              </a:r>
              <a:endParaRPr lang="en-US" sz="800" dirty="0"/>
            </a:p>
          </p:txBody>
        </p:sp>
      </p:grpSp>
      <p:sp>
        <p:nvSpPr>
          <p:cNvPr id="42" name="Text 40"/>
          <p:cNvSpPr/>
          <p:nvPr/>
        </p:nvSpPr>
        <p:spPr>
          <a:xfrm>
            <a:off x="5962405" y="1587627"/>
            <a:ext cx="7269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grpSp>
        <p:nvGrpSpPr>
          <p:cNvPr id="20" name="กลุ่ม 19">
            <a:extLst>
              <a:ext uri="{FF2B5EF4-FFF2-40B4-BE49-F238E27FC236}">
                <a16:creationId xmlns:a16="http://schemas.microsoft.com/office/drawing/2014/main" id="{5B275E2A-3C21-7860-C512-A48B87EDD97D}"/>
              </a:ext>
            </a:extLst>
          </p:cNvPr>
          <p:cNvGrpSpPr/>
          <p:nvPr/>
        </p:nvGrpSpPr>
        <p:grpSpPr>
          <a:xfrm>
            <a:off x="5155207" y="1304230"/>
            <a:ext cx="2103279" cy="685800"/>
            <a:chOff x="4333007" y="1180168"/>
            <a:chExt cx="1874520" cy="685800"/>
          </a:xfrm>
        </p:grpSpPr>
        <p:sp>
          <p:nvSpPr>
            <p:cNvPr id="40" name="Shape 38"/>
            <p:cNvSpPr/>
            <p:nvPr/>
          </p:nvSpPr>
          <p:spPr>
            <a:xfrm>
              <a:off x="4333007" y="1180168"/>
              <a:ext cx="1874520" cy="68580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1" name="Shape 39"/>
            <p:cNvSpPr/>
            <p:nvPr/>
          </p:nvSpPr>
          <p:spPr>
            <a:xfrm>
              <a:off x="4524982" y="1341610"/>
              <a:ext cx="384048" cy="38404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3" name="Text 41"/>
            <p:cNvSpPr/>
            <p:nvPr/>
          </p:nvSpPr>
          <p:spPr>
            <a:xfrm>
              <a:off x="4820304" y="1216152"/>
              <a:ext cx="1307592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วาระเพื่อทราบ</a:t>
              </a:r>
              <a:endParaRPr lang="en-US" sz="12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787967" y="1402908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A2E6D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732</a:t>
              </a:r>
              <a:endParaRPr lang="en-US" sz="18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822615" y="1655397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เรื่อง</a:t>
              </a:r>
              <a:endParaRPr lang="en-US" sz="800" dirty="0"/>
            </a:p>
          </p:txBody>
        </p:sp>
      </p:grpSp>
      <p:sp>
        <p:nvSpPr>
          <p:cNvPr id="48" name="Text 46"/>
          <p:cNvSpPr/>
          <p:nvPr/>
        </p:nvSpPr>
        <p:spPr>
          <a:xfrm>
            <a:off x="8136636" y="1545336"/>
            <a:ext cx="283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grpSp>
        <p:nvGrpSpPr>
          <p:cNvPr id="22" name="กลุ่ม 21">
            <a:extLst>
              <a:ext uri="{FF2B5EF4-FFF2-40B4-BE49-F238E27FC236}">
                <a16:creationId xmlns:a16="http://schemas.microsoft.com/office/drawing/2014/main" id="{4D76291E-4D7C-267B-7E54-6D13571CA60A}"/>
              </a:ext>
            </a:extLst>
          </p:cNvPr>
          <p:cNvGrpSpPr/>
          <p:nvPr/>
        </p:nvGrpSpPr>
        <p:grpSpPr>
          <a:xfrm>
            <a:off x="7413974" y="1309586"/>
            <a:ext cx="2141334" cy="685800"/>
            <a:chOff x="6391264" y="1190810"/>
            <a:chExt cx="1874520" cy="685800"/>
          </a:xfrm>
        </p:grpSpPr>
        <p:sp>
          <p:nvSpPr>
            <p:cNvPr id="46" name="Shape 44"/>
            <p:cNvSpPr/>
            <p:nvPr/>
          </p:nvSpPr>
          <p:spPr>
            <a:xfrm>
              <a:off x="6391264" y="1190810"/>
              <a:ext cx="1874520" cy="68580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7" name="Shape 45"/>
            <p:cNvSpPr/>
            <p:nvPr/>
          </p:nvSpPr>
          <p:spPr>
            <a:xfrm>
              <a:off x="6570459" y="1319969"/>
              <a:ext cx="384048" cy="384048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49" name="Text 47"/>
            <p:cNvSpPr/>
            <p:nvPr/>
          </p:nvSpPr>
          <p:spPr>
            <a:xfrm>
              <a:off x="6894184" y="1263962"/>
              <a:ext cx="1307592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วาระเพื่อพิจารณา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921616" y="1446842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A2E6D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268</a:t>
              </a:r>
              <a:endParaRPr lang="en-US" sz="18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918712" y="1691640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เรื่อง</a:t>
              </a:r>
              <a:endParaRPr lang="en-US" sz="800" dirty="0"/>
            </a:p>
          </p:txBody>
        </p:sp>
      </p:grpSp>
      <p:grpSp>
        <p:nvGrpSpPr>
          <p:cNvPr id="23" name="กลุ่ม 22">
            <a:extLst>
              <a:ext uri="{FF2B5EF4-FFF2-40B4-BE49-F238E27FC236}">
                <a16:creationId xmlns:a16="http://schemas.microsoft.com/office/drawing/2014/main" id="{AEBA32D9-579E-E79F-2FA9-4F116881B3F5}"/>
              </a:ext>
            </a:extLst>
          </p:cNvPr>
          <p:cNvGrpSpPr/>
          <p:nvPr/>
        </p:nvGrpSpPr>
        <p:grpSpPr>
          <a:xfrm>
            <a:off x="9693573" y="1327024"/>
            <a:ext cx="2102187" cy="685800"/>
            <a:chOff x="8476632" y="1202678"/>
            <a:chExt cx="1874520" cy="685800"/>
          </a:xfrm>
        </p:grpSpPr>
        <p:sp>
          <p:nvSpPr>
            <p:cNvPr id="52" name="Shape 50"/>
            <p:cNvSpPr/>
            <p:nvPr/>
          </p:nvSpPr>
          <p:spPr>
            <a:xfrm>
              <a:off x="8476632" y="1202678"/>
              <a:ext cx="1874520" cy="68580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55" name="Text 53"/>
            <p:cNvSpPr/>
            <p:nvPr/>
          </p:nvSpPr>
          <p:spPr>
            <a:xfrm>
              <a:off x="9005853" y="1273248"/>
              <a:ext cx="1307592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เรื่องอื่น ๆ</a:t>
              </a:r>
              <a:endParaRPr lang="en-US" sz="12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9019569" y="1427753"/>
              <a:ext cx="1280160" cy="2926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A2E6D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68</a:t>
              </a:r>
              <a:endParaRPr lang="en-US" sz="18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9019569" y="1721697"/>
              <a:ext cx="128016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เรื่อง</a:t>
              </a:r>
              <a:endParaRPr lang="en-US" sz="800" dirty="0"/>
            </a:p>
          </p:txBody>
        </p:sp>
      </p:grpSp>
      <p:grpSp>
        <p:nvGrpSpPr>
          <p:cNvPr id="28" name="กลุ่ม 27">
            <a:extLst>
              <a:ext uri="{FF2B5EF4-FFF2-40B4-BE49-F238E27FC236}">
                <a16:creationId xmlns:a16="http://schemas.microsoft.com/office/drawing/2014/main" id="{1624359D-F734-545D-07FB-9C570A4FB017}"/>
              </a:ext>
            </a:extLst>
          </p:cNvPr>
          <p:cNvGrpSpPr/>
          <p:nvPr/>
        </p:nvGrpSpPr>
        <p:grpSpPr>
          <a:xfrm>
            <a:off x="549931" y="2090150"/>
            <a:ext cx="2824850" cy="2999196"/>
            <a:chOff x="27066" y="2141973"/>
            <a:chExt cx="2523636" cy="2869597"/>
          </a:xfrm>
        </p:grpSpPr>
        <p:grpSp>
          <p:nvGrpSpPr>
            <p:cNvPr id="27" name="กลุ่ม 26">
              <a:extLst>
                <a:ext uri="{FF2B5EF4-FFF2-40B4-BE49-F238E27FC236}">
                  <a16:creationId xmlns:a16="http://schemas.microsoft.com/office/drawing/2014/main" id="{8E9282EB-4008-32FF-8D03-D299B9065584}"/>
                </a:ext>
              </a:extLst>
            </p:cNvPr>
            <p:cNvGrpSpPr/>
            <p:nvPr/>
          </p:nvGrpSpPr>
          <p:grpSpPr>
            <a:xfrm>
              <a:off x="27066" y="2141973"/>
              <a:ext cx="2523636" cy="2869597"/>
              <a:chOff x="27066" y="2141973"/>
              <a:chExt cx="2523636" cy="2869597"/>
            </a:xfrm>
          </p:grpSpPr>
          <p:grpSp>
            <p:nvGrpSpPr>
              <p:cNvPr id="26" name="กลุ่ม 25">
                <a:extLst>
                  <a:ext uri="{FF2B5EF4-FFF2-40B4-BE49-F238E27FC236}">
                    <a16:creationId xmlns:a16="http://schemas.microsoft.com/office/drawing/2014/main" id="{0D66B87D-2208-A864-ACB0-7B1FD0862A68}"/>
                  </a:ext>
                </a:extLst>
              </p:cNvPr>
              <p:cNvGrpSpPr/>
              <p:nvPr/>
            </p:nvGrpSpPr>
            <p:grpSpPr>
              <a:xfrm>
                <a:off x="27066" y="2141973"/>
                <a:ext cx="2523636" cy="2869597"/>
                <a:chOff x="27066" y="2141973"/>
                <a:chExt cx="2523636" cy="2869597"/>
              </a:xfrm>
            </p:grpSpPr>
            <p:grpSp>
              <p:nvGrpSpPr>
                <p:cNvPr id="24" name="กลุ่ม 23">
                  <a:extLst>
                    <a:ext uri="{FF2B5EF4-FFF2-40B4-BE49-F238E27FC236}">
                      <a16:creationId xmlns:a16="http://schemas.microsoft.com/office/drawing/2014/main" id="{9BEAE930-785F-D29F-FF26-5D93E3A17730}"/>
                    </a:ext>
                  </a:extLst>
                </p:cNvPr>
                <p:cNvGrpSpPr/>
                <p:nvPr/>
              </p:nvGrpSpPr>
              <p:grpSpPr>
                <a:xfrm>
                  <a:off x="27066" y="2141973"/>
                  <a:ext cx="2523636" cy="2869597"/>
                  <a:chOff x="27066" y="2141973"/>
                  <a:chExt cx="2523636" cy="2869597"/>
                </a:xfrm>
              </p:grpSpPr>
              <p:sp>
                <p:nvSpPr>
                  <p:cNvPr id="58" name="Shape 56"/>
                  <p:cNvSpPr/>
                  <p:nvPr/>
                </p:nvSpPr>
                <p:spPr>
                  <a:xfrm>
                    <a:off x="36102" y="2176272"/>
                    <a:ext cx="2514600" cy="2835298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10160">
                    <a:solidFill>
                      <a:srgbClr val="1D5EA8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th-TH"/>
                  </a:p>
                </p:txBody>
              </p:sp>
              <p:sp>
                <p:nvSpPr>
                  <p:cNvPr id="59" name="Shape 57"/>
                  <p:cNvSpPr/>
                  <p:nvPr/>
                </p:nvSpPr>
                <p:spPr>
                  <a:xfrm>
                    <a:off x="27066" y="2141973"/>
                    <a:ext cx="2514600" cy="329184"/>
                  </a:xfrm>
                  <a:prstGeom prst="roundRect">
                    <a:avLst>
                      <a:gd name="adj" fmla="val 13889"/>
                    </a:avLst>
                  </a:prstGeom>
                  <a:solidFill>
                    <a:srgbClr val="0A2E6D"/>
                  </a:solidFill>
                  <a:ln w="10160">
                    <a:solidFill>
                      <a:srgbClr val="0A2E6D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th-TH"/>
                  </a:p>
                </p:txBody>
              </p:sp>
              <p:sp>
                <p:nvSpPr>
                  <p:cNvPr id="60" name="Text 58"/>
                  <p:cNvSpPr/>
                  <p:nvPr/>
                </p:nvSpPr>
                <p:spPr>
                  <a:xfrm>
                    <a:off x="195072" y="2185416"/>
                    <a:ext cx="2304288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>
                    <a:normAutofit/>
                  </a:bodyPr>
                  <a:lstStyle/>
                  <a:p>
                    <a:pPr marL="0" indent="0" algn="ctr">
                      <a:buNone/>
                    </a:pPr>
                    <a:r>
                      <a:rPr lang="en-US" sz="1200" b="1" dirty="0" err="1">
                        <a:solidFill>
                          <a:srgbClr val="FFFFFF"/>
                        </a:solidFill>
                        <a:latin typeface="Prompt" pitchFamily="34" charset="0"/>
                        <a:ea typeface="Prompt" pitchFamily="34" charset="-122"/>
                        <a:cs typeface="Prompt" pitchFamily="34" charset="-120"/>
                      </a:rPr>
                      <a:t>จำนวนวาระจำแนกตามกลไก</a:t>
                    </a:r>
                    <a:endParaRPr lang="en-US" sz="1200" dirty="0"/>
                  </a:p>
                </p:txBody>
              </p:sp>
            </p:grpSp>
            <p:sp>
              <p:nvSpPr>
                <p:cNvPr id="63" name="Shape 61"/>
                <p:cNvSpPr/>
                <p:nvPr/>
              </p:nvSpPr>
              <p:spPr>
                <a:xfrm>
                  <a:off x="515112" y="434797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64" name="Text 62"/>
                <p:cNvSpPr/>
                <p:nvPr/>
              </p:nvSpPr>
              <p:spPr>
                <a:xfrm>
                  <a:off x="240792" y="429310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100</a:t>
                  </a:r>
                  <a:endParaRPr lang="en-US" sz="640" dirty="0"/>
                </a:p>
              </p:txBody>
            </p:sp>
            <p:sp>
              <p:nvSpPr>
                <p:cNvPr id="65" name="Shape 63"/>
                <p:cNvSpPr/>
                <p:nvPr/>
              </p:nvSpPr>
              <p:spPr>
                <a:xfrm>
                  <a:off x="515112" y="405079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66" name="Text 64"/>
                <p:cNvSpPr/>
                <p:nvPr/>
              </p:nvSpPr>
              <p:spPr>
                <a:xfrm>
                  <a:off x="240792" y="399592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200</a:t>
                  </a:r>
                  <a:endParaRPr lang="en-US" sz="640" dirty="0"/>
                </a:p>
              </p:txBody>
            </p:sp>
            <p:sp>
              <p:nvSpPr>
                <p:cNvPr id="67" name="Shape 65"/>
                <p:cNvSpPr/>
                <p:nvPr/>
              </p:nvSpPr>
              <p:spPr>
                <a:xfrm>
                  <a:off x="515112" y="375361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68" name="Text 66"/>
                <p:cNvSpPr/>
                <p:nvPr/>
              </p:nvSpPr>
              <p:spPr>
                <a:xfrm>
                  <a:off x="240792" y="369874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300</a:t>
                  </a:r>
                  <a:endParaRPr lang="en-US" sz="640" dirty="0"/>
                </a:p>
              </p:txBody>
            </p:sp>
            <p:sp>
              <p:nvSpPr>
                <p:cNvPr id="69" name="Shape 67"/>
                <p:cNvSpPr/>
                <p:nvPr/>
              </p:nvSpPr>
              <p:spPr>
                <a:xfrm>
                  <a:off x="515112" y="345643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70" name="Text 68"/>
                <p:cNvSpPr/>
                <p:nvPr/>
              </p:nvSpPr>
              <p:spPr>
                <a:xfrm>
                  <a:off x="240792" y="340156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400</a:t>
                  </a:r>
                  <a:endParaRPr lang="en-US" sz="640" dirty="0"/>
                </a:p>
              </p:txBody>
            </p:sp>
            <p:sp>
              <p:nvSpPr>
                <p:cNvPr id="71" name="Shape 69"/>
                <p:cNvSpPr/>
                <p:nvPr/>
              </p:nvSpPr>
              <p:spPr>
                <a:xfrm>
                  <a:off x="515112" y="315925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72" name="Text 70"/>
                <p:cNvSpPr/>
                <p:nvPr/>
              </p:nvSpPr>
              <p:spPr>
                <a:xfrm>
                  <a:off x="240792" y="310438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500</a:t>
                  </a:r>
                  <a:endParaRPr lang="en-US" sz="640" dirty="0"/>
                </a:p>
              </p:txBody>
            </p:sp>
            <p:sp>
              <p:nvSpPr>
                <p:cNvPr id="73" name="Shape 71"/>
                <p:cNvSpPr/>
                <p:nvPr/>
              </p:nvSpPr>
              <p:spPr>
                <a:xfrm>
                  <a:off x="515112" y="2862072"/>
                  <a:ext cx="1801368" cy="0"/>
                </a:xfrm>
                <a:prstGeom prst="line">
                  <a:avLst/>
                </a:prstGeom>
                <a:noFill/>
                <a:ln w="5080">
                  <a:solidFill>
                    <a:srgbClr val="D9E2EA">
                      <a:alpha val="90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74" name="Text 72"/>
                <p:cNvSpPr/>
                <p:nvPr/>
              </p:nvSpPr>
              <p:spPr>
                <a:xfrm>
                  <a:off x="240792" y="2807208"/>
                  <a:ext cx="228600" cy="10972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64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600</a:t>
                  </a:r>
                  <a:endParaRPr lang="en-US" sz="640" dirty="0"/>
                </a:p>
              </p:txBody>
            </p:sp>
            <p:sp>
              <p:nvSpPr>
                <p:cNvPr id="75" name="Text 73"/>
                <p:cNvSpPr/>
                <p:nvPr/>
              </p:nvSpPr>
              <p:spPr>
                <a:xfrm>
                  <a:off x="316176" y="2617241"/>
                  <a:ext cx="274320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 fontScale="92500" lnSpcReduction="10000"/>
                </a:bodyPr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เรื่อง</a:t>
                  </a:r>
                  <a:endParaRPr lang="en-US" sz="1000" dirty="0"/>
                </a:p>
              </p:txBody>
            </p:sp>
            <p:sp>
              <p:nvSpPr>
                <p:cNvPr id="76" name="Shape 74"/>
                <p:cNvSpPr/>
                <p:nvPr/>
              </p:nvSpPr>
              <p:spPr>
                <a:xfrm>
                  <a:off x="619591" y="4529252"/>
                  <a:ext cx="151315" cy="115900"/>
                </a:xfrm>
                <a:prstGeom prst="rect">
                  <a:avLst/>
                </a:prstGeom>
                <a:solidFill>
                  <a:srgbClr val="0A2E6D"/>
                </a:solidFill>
                <a:ln w="12700">
                  <a:solidFill>
                    <a:srgbClr val="0A2E6D"/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78" name="Text 76"/>
                <p:cNvSpPr/>
                <p:nvPr/>
              </p:nvSpPr>
              <p:spPr>
                <a:xfrm>
                  <a:off x="390991" y="4690872"/>
                  <a:ext cx="60851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กทช</a:t>
                  </a:r>
                  <a:r>
                    <a:rPr lang="en-US" sz="9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.</a:t>
                  </a:r>
                  <a:endParaRPr lang="en-US" sz="900" dirty="0"/>
                </a:p>
              </p:txBody>
            </p:sp>
            <p:sp>
              <p:nvSpPr>
                <p:cNvPr id="79" name="Shape 77"/>
                <p:cNvSpPr/>
                <p:nvPr/>
              </p:nvSpPr>
              <p:spPr>
                <a:xfrm>
                  <a:off x="979865" y="4398493"/>
                  <a:ext cx="151315" cy="246659"/>
                </a:xfrm>
                <a:prstGeom prst="rect">
                  <a:avLst/>
                </a:prstGeom>
                <a:solidFill>
                  <a:srgbClr val="0A2E6D"/>
                </a:solidFill>
                <a:ln w="12700">
                  <a:solidFill>
                    <a:srgbClr val="0A2E6D"/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81" name="Text 79"/>
                <p:cNvSpPr/>
                <p:nvPr/>
              </p:nvSpPr>
              <p:spPr>
                <a:xfrm>
                  <a:off x="751265" y="4690872"/>
                  <a:ext cx="60851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 fontScale="92500" lnSpcReduction="20000"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อนุกรรมการ</a:t>
                  </a:r>
                  <a:endParaRPr lang="en-US" sz="800" dirty="0"/>
                </a:p>
                <a:p>
                  <a:pPr marL="0" indent="0" algn="ctr">
                    <a:buNone/>
                  </a:pPr>
                  <a:r>
                    <a:rPr lang="en-US" sz="800" dirty="0" err="1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ภายใต้</a:t>
                  </a: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US" sz="800" dirty="0" err="1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กทช</a:t>
                  </a: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.</a:t>
                  </a:r>
                  <a:endParaRPr lang="en-US" sz="800" dirty="0"/>
                </a:p>
              </p:txBody>
            </p:sp>
            <p:sp>
              <p:nvSpPr>
                <p:cNvPr id="82" name="Shape 80"/>
                <p:cNvSpPr/>
                <p:nvPr/>
              </p:nvSpPr>
              <p:spPr>
                <a:xfrm>
                  <a:off x="1340139" y="4413352"/>
                  <a:ext cx="151315" cy="231800"/>
                </a:xfrm>
                <a:prstGeom prst="rect">
                  <a:avLst/>
                </a:prstGeom>
                <a:solidFill>
                  <a:srgbClr val="0A2E6D"/>
                </a:solidFill>
                <a:ln w="12700">
                  <a:solidFill>
                    <a:srgbClr val="0A2E6D"/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84" name="Text 82"/>
                <p:cNvSpPr/>
                <p:nvPr/>
              </p:nvSpPr>
              <p:spPr>
                <a:xfrm>
                  <a:off x="1111539" y="4690872"/>
                  <a:ext cx="60851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คณะทำงาน</a:t>
                  </a:r>
                  <a:endParaRPr lang="en-US" sz="800" dirty="0"/>
                </a:p>
              </p:txBody>
            </p:sp>
            <p:sp>
              <p:nvSpPr>
                <p:cNvPr id="85" name="Shape 83"/>
                <p:cNvSpPr/>
                <p:nvPr/>
              </p:nvSpPr>
              <p:spPr>
                <a:xfrm>
                  <a:off x="1700412" y="2995803"/>
                  <a:ext cx="151315" cy="1649349"/>
                </a:xfrm>
                <a:prstGeom prst="rect">
                  <a:avLst/>
                </a:prstGeom>
                <a:solidFill>
                  <a:srgbClr val="0A2E6D"/>
                </a:solidFill>
                <a:ln w="12700">
                  <a:solidFill>
                    <a:srgbClr val="0A2E6D"/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87" name="Text 85"/>
                <p:cNvSpPr/>
                <p:nvPr/>
              </p:nvSpPr>
              <p:spPr>
                <a:xfrm>
                  <a:off x="1471812" y="4690872"/>
                  <a:ext cx="60851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คทจ</a:t>
                  </a:r>
                  <a:r>
                    <a:rPr lang="en-US" sz="9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.</a:t>
                  </a:r>
                  <a:endParaRPr lang="en-US" sz="900" dirty="0"/>
                </a:p>
              </p:txBody>
            </p:sp>
            <p:sp>
              <p:nvSpPr>
                <p:cNvPr id="88" name="Shape 86"/>
                <p:cNvSpPr/>
                <p:nvPr/>
              </p:nvSpPr>
              <p:spPr>
                <a:xfrm>
                  <a:off x="2060686" y="3714979"/>
                  <a:ext cx="151315" cy="930173"/>
                </a:xfrm>
                <a:prstGeom prst="rect">
                  <a:avLst/>
                </a:prstGeom>
                <a:solidFill>
                  <a:srgbClr val="0A2E6D"/>
                </a:solidFill>
                <a:ln w="12700">
                  <a:solidFill>
                    <a:srgbClr val="0A2E6D"/>
                  </a:solidFill>
                  <a:prstDash val="solid"/>
                </a:ln>
              </p:spPr>
              <p:txBody>
                <a:bodyPr/>
                <a:lstStyle/>
                <a:p>
                  <a:endParaRPr lang="th-TH"/>
                </a:p>
              </p:txBody>
            </p:sp>
            <p:sp>
              <p:nvSpPr>
                <p:cNvPr id="90" name="Text 88"/>
                <p:cNvSpPr/>
                <p:nvPr/>
              </p:nvSpPr>
              <p:spPr>
                <a:xfrm>
                  <a:off x="1832086" y="4690872"/>
                  <a:ext cx="60851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อนุกรรมการ</a:t>
                  </a:r>
                  <a:endParaRPr lang="en-US" sz="800" dirty="0"/>
                </a:p>
                <a:p>
                  <a:pPr marL="0" indent="0" algn="ctr">
                    <a:buNone/>
                  </a:pPr>
                  <a:r>
                    <a:rPr lang="en-US" sz="800" dirty="0">
                      <a:solidFill>
                        <a:srgbClr val="07275B"/>
                      </a:solidFill>
                      <a:latin typeface="Prompt" pitchFamily="34" charset="0"/>
                      <a:ea typeface="Prompt" pitchFamily="34" charset="-122"/>
                      <a:cs typeface="Prompt" pitchFamily="34" charset="-120"/>
                    </a:rPr>
                    <a:t>ภายใต้ คทจ.</a:t>
                  </a:r>
                  <a:endParaRPr lang="en-US" sz="800" dirty="0"/>
                </a:p>
              </p:txBody>
            </p:sp>
          </p:grpSp>
          <p:sp>
            <p:nvSpPr>
              <p:cNvPr id="77" name="Text 75"/>
              <p:cNvSpPr/>
              <p:nvPr/>
            </p:nvSpPr>
            <p:spPr>
              <a:xfrm>
                <a:off x="546439" y="4346372"/>
                <a:ext cx="297619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A2E6D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39</a:t>
                </a:r>
                <a:endParaRPr lang="en-US" sz="800" dirty="0"/>
              </a:p>
            </p:txBody>
          </p:sp>
          <p:sp>
            <p:nvSpPr>
              <p:cNvPr id="80" name="Text 78"/>
              <p:cNvSpPr/>
              <p:nvPr/>
            </p:nvSpPr>
            <p:spPr>
              <a:xfrm>
                <a:off x="906713" y="4215613"/>
                <a:ext cx="297619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A2E6D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83</a:t>
                </a:r>
                <a:endParaRPr lang="en-US" sz="800" dirty="0"/>
              </a:p>
            </p:txBody>
          </p:sp>
          <p:sp>
            <p:nvSpPr>
              <p:cNvPr id="83" name="Text 81"/>
              <p:cNvSpPr/>
              <p:nvPr/>
            </p:nvSpPr>
            <p:spPr>
              <a:xfrm>
                <a:off x="1266987" y="4230472"/>
                <a:ext cx="297619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A2E6D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78</a:t>
                </a:r>
                <a:endParaRPr lang="en-US" sz="800" dirty="0"/>
              </a:p>
            </p:txBody>
          </p:sp>
          <p:sp>
            <p:nvSpPr>
              <p:cNvPr id="86" name="Text 84"/>
              <p:cNvSpPr/>
              <p:nvPr/>
            </p:nvSpPr>
            <p:spPr>
              <a:xfrm>
                <a:off x="1627260" y="2812923"/>
                <a:ext cx="297619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A2E6D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555</a:t>
                </a:r>
                <a:endParaRPr lang="en-US" sz="800" dirty="0"/>
              </a:p>
            </p:txBody>
          </p:sp>
          <p:sp>
            <p:nvSpPr>
              <p:cNvPr id="89" name="Text 87"/>
              <p:cNvSpPr/>
              <p:nvPr/>
            </p:nvSpPr>
            <p:spPr>
              <a:xfrm>
                <a:off x="1987534" y="3532099"/>
                <a:ext cx="297619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800" b="1" dirty="0">
                    <a:solidFill>
                      <a:srgbClr val="0A2E6D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313</a:t>
                </a:r>
                <a:endParaRPr lang="en-US" sz="800" dirty="0"/>
              </a:p>
            </p:txBody>
          </p:sp>
        </p:grpSp>
        <p:sp>
          <p:nvSpPr>
            <p:cNvPr id="61" name="Shape 59"/>
            <p:cNvSpPr/>
            <p:nvPr/>
          </p:nvSpPr>
          <p:spPr>
            <a:xfrm>
              <a:off x="515112" y="4645152"/>
              <a:ext cx="1801368" cy="0"/>
            </a:xfrm>
            <a:prstGeom prst="line">
              <a:avLst/>
            </a:prstGeom>
            <a:noFill/>
            <a:ln w="5080">
              <a:solidFill>
                <a:srgbClr val="D9E2EA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62" name="Text 60"/>
            <p:cNvSpPr/>
            <p:nvPr/>
          </p:nvSpPr>
          <p:spPr>
            <a:xfrm>
              <a:off x="240792" y="4590288"/>
              <a:ext cx="22860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r">
                <a:buNone/>
              </a:pPr>
              <a:r>
                <a:rPr lang="en-US" sz="64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0</a:t>
              </a:r>
              <a:endParaRPr lang="en-US" sz="640" dirty="0"/>
            </a:p>
          </p:txBody>
        </p:sp>
      </p:grpSp>
      <p:sp>
        <p:nvSpPr>
          <p:cNvPr id="92" name="Shape 90"/>
          <p:cNvSpPr/>
          <p:nvPr/>
        </p:nvSpPr>
        <p:spPr>
          <a:xfrm>
            <a:off x="3564430" y="2125998"/>
            <a:ext cx="2408870" cy="2953504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 91"/>
          <p:cNvSpPr/>
          <p:nvPr/>
        </p:nvSpPr>
        <p:spPr>
          <a:xfrm>
            <a:off x="3558457" y="2117554"/>
            <a:ext cx="2403947" cy="329184"/>
          </a:xfrm>
          <a:prstGeom prst="roundRect">
            <a:avLst>
              <a:gd name="adj" fmla="val 13889"/>
            </a:avLst>
          </a:prstGeom>
          <a:solidFill>
            <a:srgbClr val="0A2E6D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4" name="Text 92"/>
          <p:cNvSpPr/>
          <p:nvPr/>
        </p:nvSpPr>
        <p:spPr>
          <a:xfrm>
            <a:off x="3549330" y="2135842"/>
            <a:ext cx="237497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สัดส่วนประเภทวาระ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(ร้อยละ)</a:t>
            </a:r>
            <a:endParaRPr lang="en-US" sz="1200" dirty="0"/>
          </a:p>
        </p:txBody>
      </p:sp>
      <p:graphicFrame>
        <p:nvGraphicFramePr>
          <p:cNvPr id="95" name="Chart 0"/>
          <p:cNvGraphicFramePr/>
          <p:nvPr>
            <p:extLst>
              <p:ext uri="{D42A27DB-BD31-4B8C-83A1-F6EECF244321}">
                <p14:modId xmlns:p14="http://schemas.microsoft.com/office/powerpoint/2010/main" val="943618424"/>
              </p:ext>
            </p:extLst>
          </p:nvPr>
        </p:nvGraphicFramePr>
        <p:xfrm>
          <a:off x="3753314" y="2333978"/>
          <a:ext cx="2374973" cy="2074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6" name="Text 93"/>
          <p:cNvSpPr/>
          <p:nvPr/>
        </p:nvSpPr>
        <p:spPr>
          <a:xfrm>
            <a:off x="4556134" y="3185009"/>
            <a:ext cx="42062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1,068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เรื่อง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4003232" y="4361688"/>
            <a:ext cx="82296" cy="82296"/>
          </a:xfrm>
          <a:prstGeom prst="rect">
            <a:avLst/>
          </a:prstGeom>
          <a:solidFill>
            <a:srgbClr val="0A2E6D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8" name="Text 95"/>
          <p:cNvSpPr/>
          <p:nvPr/>
        </p:nvSpPr>
        <p:spPr>
          <a:xfrm>
            <a:off x="4137614" y="4351109"/>
            <a:ext cx="1307524" cy="1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เพื่อทราบ 68.5% (732 เรื่อง)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4003232" y="4538949"/>
            <a:ext cx="82296" cy="82296"/>
          </a:xfrm>
          <a:prstGeom prst="rect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0" name="Text 97"/>
          <p:cNvSpPr/>
          <p:nvPr/>
        </p:nvSpPr>
        <p:spPr>
          <a:xfrm>
            <a:off x="4133990" y="4529805"/>
            <a:ext cx="15211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เพื่อพิจารณา 25.1% (268 เรื่อง)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996539" y="4725614"/>
            <a:ext cx="82296" cy="82296"/>
          </a:xfrm>
          <a:prstGeom prst="rect">
            <a:avLst/>
          </a:prstGeom>
          <a:solidFill>
            <a:srgbClr val="6A4AA3"/>
          </a:solidFill>
          <a:ln w="12700">
            <a:solidFill>
              <a:srgbClr val="6A4AA3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2" name="Text 99"/>
          <p:cNvSpPr/>
          <p:nvPr/>
        </p:nvSpPr>
        <p:spPr>
          <a:xfrm>
            <a:off x="4126314" y="4732002"/>
            <a:ext cx="1323306" cy="11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เรื่องอื่น ๆ 6.4% (68 เรื่อง)</a:t>
            </a:r>
            <a:endParaRPr lang="en-US" sz="800" dirty="0"/>
          </a:p>
        </p:txBody>
      </p:sp>
      <p:grpSp>
        <p:nvGrpSpPr>
          <p:cNvPr id="91" name="กลุ่ม 90">
            <a:extLst>
              <a:ext uri="{FF2B5EF4-FFF2-40B4-BE49-F238E27FC236}">
                <a16:creationId xmlns:a16="http://schemas.microsoft.com/office/drawing/2014/main" id="{9783F7B7-4B80-6F05-3580-695E165EF03B}"/>
              </a:ext>
            </a:extLst>
          </p:cNvPr>
          <p:cNvGrpSpPr/>
          <p:nvPr/>
        </p:nvGrpSpPr>
        <p:grpSpPr>
          <a:xfrm>
            <a:off x="6145863" y="2071560"/>
            <a:ext cx="2830185" cy="3035808"/>
            <a:chOff x="6843281" y="2151272"/>
            <a:chExt cx="2583521" cy="3035808"/>
          </a:xfrm>
        </p:grpSpPr>
        <p:sp>
          <p:nvSpPr>
            <p:cNvPr id="122" name="Shape 118"/>
            <p:cNvSpPr/>
            <p:nvPr/>
          </p:nvSpPr>
          <p:spPr>
            <a:xfrm>
              <a:off x="6843281" y="2151272"/>
              <a:ext cx="2583521" cy="3035808"/>
            </a:xfrm>
            <a:prstGeom prst="roundRect">
              <a:avLst>
                <a:gd name="adj" fmla="val 2909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3" name="Shape 119"/>
            <p:cNvSpPr/>
            <p:nvPr/>
          </p:nvSpPr>
          <p:spPr>
            <a:xfrm>
              <a:off x="6845262" y="2159813"/>
              <a:ext cx="2573801" cy="329184"/>
            </a:xfrm>
            <a:prstGeom prst="roundRect">
              <a:avLst>
                <a:gd name="adj" fmla="val 13889"/>
              </a:avLst>
            </a:prstGeom>
            <a:solidFill>
              <a:srgbClr val="0A2E6D"/>
            </a:solidFill>
            <a:ln w="1016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4" name="Text 120"/>
            <p:cNvSpPr/>
            <p:nvPr/>
          </p:nvSpPr>
          <p:spPr>
            <a:xfrm>
              <a:off x="6863343" y="2201566"/>
              <a:ext cx="251724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จำนวนวาระตามประเด็น 7 กลุ่ม</a:t>
              </a:r>
              <a:endParaRPr lang="en-US" sz="1200" dirty="0"/>
            </a:p>
          </p:txBody>
        </p:sp>
      </p:grpSp>
      <p:grpSp>
        <p:nvGrpSpPr>
          <p:cNvPr id="106" name="กลุ่ม 105">
            <a:extLst>
              <a:ext uri="{FF2B5EF4-FFF2-40B4-BE49-F238E27FC236}">
                <a16:creationId xmlns:a16="http://schemas.microsoft.com/office/drawing/2014/main" id="{4CFE69AE-02E7-D501-A570-EAE4FE3FF384}"/>
              </a:ext>
            </a:extLst>
          </p:cNvPr>
          <p:cNvGrpSpPr/>
          <p:nvPr/>
        </p:nvGrpSpPr>
        <p:grpSpPr>
          <a:xfrm>
            <a:off x="6267216" y="2885250"/>
            <a:ext cx="2376446" cy="345494"/>
            <a:chOff x="7171944" y="2920220"/>
            <a:chExt cx="2376446" cy="345494"/>
          </a:xfrm>
        </p:grpSpPr>
        <p:grpSp>
          <p:nvGrpSpPr>
            <p:cNvPr id="105" name="กลุ่ม 104">
              <a:extLst>
                <a:ext uri="{FF2B5EF4-FFF2-40B4-BE49-F238E27FC236}">
                  <a16:creationId xmlns:a16="http://schemas.microsoft.com/office/drawing/2014/main" id="{646DD8A7-B694-7BF5-E899-D36FAB1CAF3E}"/>
                </a:ext>
              </a:extLst>
            </p:cNvPr>
            <p:cNvGrpSpPr/>
            <p:nvPr/>
          </p:nvGrpSpPr>
          <p:grpSpPr>
            <a:xfrm>
              <a:off x="7171944" y="3004457"/>
              <a:ext cx="164592" cy="164592"/>
              <a:chOff x="7171944" y="3004457"/>
              <a:chExt cx="164592" cy="164592"/>
            </a:xfrm>
          </p:grpSpPr>
          <p:sp>
            <p:nvSpPr>
              <p:cNvPr id="130" name="Shape 126"/>
              <p:cNvSpPr/>
              <p:nvPr/>
            </p:nvSpPr>
            <p:spPr>
              <a:xfrm>
                <a:off x="7171944" y="3004457"/>
                <a:ext cx="164592" cy="164592"/>
              </a:xfrm>
              <a:prstGeom prst="ellipse">
                <a:avLst/>
              </a:prstGeom>
              <a:solidFill>
                <a:srgbClr val="087B8C"/>
              </a:solidFill>
              <a:ln w="12700">
                <a:solidFill>
                  <a:srgbClr val="087B8C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31" name="Text 127"/>
              <p:cNvSpPr/>
              <p:nvPr/>
            </p:nvSpPr>
            <p:spPr>
              <a:xfrm>
                <a:off x="7201865" y="3042695"/>
                <a:ext cx="117348" cy="1058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580" b="1" dirty="0">
                    <a:solidFill>
                      <a:srgbClr val="FFFFFF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2</a:t>
                </a:r>
                <a:endParaRPr lang="en-US" sz="580" dirty="0"/>
              </a:p>
            </p:txBody>
          </p:sp>
        </p:grpSp>
        <p:sp>
          <p:nvSpPr>
            <p:cNvPr id="132" name="Text 128"/>
            <p:cNvSpPr/>
            <p:nvPr/>
          </p:nvSpPr>
          <p:spPr>
            <a:xfrm>
              <a:off x="7391400" y="2958737"/>
              <a:ext cx="1302563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นโยบาย แผน และแนวทาง</a:t>
              </a:r>
              <a:endParaRPr lang="en-US" sz="700" dirty="0"/>
            </a:p>
            <a:p>
              <a:pPr marL="0" indent="0" algn="l">
                <a:buNone/>
              </a:pPr>
              <a:r>
                <a:rPr lang="en-US" sz="7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การบริหารจัดการ</a:t>
              </a:r>
              <a:endParaRPr lang="en-US" sz="700" dirty="0"/>
            </a:p>
          </p:txBody>
        </p:sp>
        <p:sp>
          <p:nvSpPr>
            <p:cNvPr id="133" name="Shape 129"/>
            <p:cNvSpPr/>
            <p:nvPr/>
          </p:nvSpPr>
          <p:spPr>
            <a:xfrm>
              <a:off x="8630586" y="3002610"/>
              <a:ext cx="229953" cy="108472"/>
            </a:xfrm>
            <a:prstGeom prst="rect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4" name="Text 130"/>
            <p:cNvSpPr/>
            <p:nvPr/>
          </p:nvSpPr>
          <p:spPr>
            <a:xfrm>
              <a:off x="9240512" y="2920220"/>
              <a:ext cx="307878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5</a:t>
              </a:r>
              <a:endParaRPr lang="en-US" sz="1000" b="1" dirty="0"/>
            </a:p>
          </p:txBody>
        </p:sp>
      </p:grpSp>
      <p:grpSp>
        <p:nvGrpSpPr>
          <p:cNvPr id="108" name="กลุ่ม 107">
            <a:extLst>
              <a:ext uri="{FF2B5EF4-FFF2-40B4-BE49-F238E27FC236}">
                <a16:creationId xmlns:a16="http://schemas.microsoft.com/office/drawing/2014/main" id="{039C162C-96E7-7D5A-87F1-6A6141A6C539}"/>
              </a:ext>
            </a:extLst>
          </p:cNvPr>
          <p:cNvGrpSpPr/>
          <p:nvPr/>
        </p:nvGrpSpPr>
        <p:grpSpPr>
          <a:xfrm>
            <a:off x="6271618" y="3201805"/>
            <a:ext cx="2379726" cy="352105"/>
            <a:chOff x="7171944" y="3220586"/>
            <a:chExt cx="2379726" cy="352105"/>
          </a:xfrm>
        </p:grpSpPr>
        <p:grpSp>
          <p:nvGrpSpPr>
            <p:cNvPr id="107" name="กลุ่ม 106">
              <a:extLst>
                <a:ext uri="{FF2B5EF4-FFF2-40B4-BE49-F238E27FC236}">
                  <a16:creationId xmlns:a16="http://schemas.microsoft.com/office/drawing/2014/main" id="{A0719A3F-5B4D-C7AA-5641-84804A99A8A5}"/>
                </a:ext>
              </a:extLst>
            </p:cNvPr>
            <p:cNvGrpSpPr/>
            <p:nvPr/>
          </p:nvGrpSpPr>
          <p:grpSpPr>
            <a:xfrm>
              <a:off x="7171944" y="3311434"/>
              <a:ext cx="164592" cy="164592"/>
              <a:chOff x="7171944" y="3311434"/>
              <a:chExt cx="164592" cy="164592"/>
            </a:xfrm>
          </p:grpSpPr>
          <p:sp>
            <p:nvSpPr>
              <p:cNvPr id="135" name="Shape 131"/>
              <p:cNvSpPr/>
              <p:nvPr/>
            </p:nvSpPr>
            <p:spPr>
              <a:xfrm>
                <a:off x="7171944" y="3311434"/>
                <a:ext cx="164592" cy="164592"/>
              </a:xfrm>
              <a:prstGeom prst="ellipse">
                <a:avLst/>
              </a:prstGeom>
              <a:solidFill>
                <a:srgbClr val="087B8C"/>
              </a:solidFill>
              <a:ln w="12700">
                <a:solidFill>
                  <a:srgbClr val="087B8C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36" name="Text 132"/>
              <p:cNvSpPr/>
              <p:nvPr/>
            </p:nvSpPr>
            <p:spPr>
              <a:xfrm>
                <a:off x="7202888" y="3344156"/>
                <a:ext cx="109264" cy="1148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580" b="1" dirty="0">
                    <a:solidFill>
                      <a:srgbClr val="FFFFFF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3</a:t>
                </a:r>
                <a:endParaRPr lang="en-US" sz="580" dirty="0"/>
              </a:p>
            </p:txBody>
          </p:sp>
        </p:grpSp>
        <p:sp>
          <p:nvSpPr>
            <p:cNvPr id="137" name="Text 133"/>
            <p:cNvSpPr/>
            <p:nvPr/>
          </p:nvSpPr>
          <p:spPr>
            <a:xfrm>
              <a:off x="7391400" y="3265714"/>
              <a:ext cx="1302563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โครงสร้างกลไก การแต่งตั้ง</a:t>
              </a:r>
              <a:endParaRPr lang="en-US" sz="700" dirty="0"/>
            </a:p>
            <a:p>
              <a:pPr marL="0" indent="0" algn="l">
                <a:buNone/>
              </a:pPr>
              <a:r>
                <a:rPr lang="en-US" sz="7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และการปรับองค์ประกอบ</a:t>
              </a:r>
              <a:endParaRPr lang="en-US" sz="700" dirty="0"/>
            </a:p>
          </p:txBody>
        </p:sp>
        <p:sp>
          <p:nvSpPr>
            <p:cNvPr id="138" name="Shape 134"/>
            <p:cNvSpPr/>
            <p:nvPr/>
          </p:nvSpPr>
          <p:spPr>
            <a:xfrm>
              <a:off x="8630586" y="3309587"/>
              <a:ext cx="186202" cy="101460"/>
            </a:xfrm>
            <a:prstGeom prst="rect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9" name="Text 135"/>
            <p:cNvSpPr/>
            <p:nvPr/>
          </p:nvSpPr>
          <p:spPr>
            <a:xfrm>
              <a:off x="9243792" y="3220586"/>
              <a:ext cx="307878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4</a:t>
              </a:r>
              <a:endParaRPr lang="en-US" sz="1000" b="1" dirty="0"/>
            </a:p>
          </p:txBody>
        </p:sp>
      </p:grpSp>
      <p:grpSp>
        <p:nvGrpSpPr>
          <p:cNvPr id="112" name="กลุ่ม 111">
            <a:extLst>
              <a:ext uri="{FF2B5EF4-FFF2-40B4-BE49-F238E27FC236}">
                <a16:creationId xmlns:a16="http://schemas.microsoft.com/office/drawing/2014/main" id="{D0E18CA9-16B4-8EA9-5CEA-56F57ADA4B16}"/>
              </a:ext>
            </a:extLst>
          </p:cNvPr>
          <p:cNvGrpSpPr/>
          <p:nvPr/>
        </p:nvGrpSpPr>
        <p:grpSpPr>
          <a:xfrm>
            <a:off x="6267216" y="3599597"/>
            <a:ext cx="164592" cy="164592"/>
            <a:chOff x="7171944" y="3618411"/>
            <a:chExt cx="164592" cy="164592"/>
          </a:xfrm>
        </p:grpSpPr>
        <p:sp>
          <p:nvSpPr>
            <p:cNvPr id="140" name="Shape 136"/>
            <p:cNvSpPr/>
            <p:nvPr/>
          </p:nvSpPr>
          <p:spPr>
            <a:xfrm>
              <a:off x="7171944" y="3618411"/>
              <a:ext cx="164592" cy="164592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41" name="Text 137"/>
            <p:cNvSpPr/>
            <p:nvPr/>
          </p:nvSpPr>
          <p:spPr>
            <a:xfrm>
              <a:off x="7202888" y="3648586"/>
              <a:ext cx="106121" cy="105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8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4</a:t>
              </a:r>
              <a:endParaRPr lang="en-US" sz="580" dirty="0"/>
            </a:p>
          </p:txBody>
        </p:sp>
      </p:grpSp>
      <p:sp>
        <p:nvSpPr>
          <p:cNvPr id="142" name="Text 138"/>
          <p:cNvSpPr/>
          <p:nvPr/>
        </p:nvSpPr>
        <p:spPr>
          <a:xfrm>
            <a:off x="6510033" y="3523258"/>
            <a:ext cx="1302563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การออกกฎหมาย</a:t>
            </a:r>
            <a:endParaRPr lang="en-US" sz="700" dirty="0"/>
          </a:p>
        </p:txBody>
      </p:sp>
      <p:sp>
        <p:nvSpPr>
          <p:cNvPr id="143" name="Shape 139"/>
          <p:cNvSpPr/>
          <p:nvPr/>
        </p:nvSpPr>
        <p:spPr>
          <a:xfrm>
            <a:off x="7719603" y="3611349"/>
            <a:ext cx="529129" cy="105884"/>
          </a:xfrm>
          <a:prstGeom prst="rect">
            <a:avLst/>
          </a:prstGeom>
          <a:solidFill>
            <a:srgbClr val="0A2E6D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4" name="Text 140"/>
          <p:cNvSpPr/>
          <p:nvPr/>
        </p:nvSpPr>
        <p:spPr>
          <a:xfrm>
            <a:off x="8340034" y="3506782"/>
            <a:ext cx="307878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060"/>
                </a:solidFill>
              </a:rPr>
              <a:t>11</a:t>
            </a:r>
          </a:p>
        </p:txBody>
      </p:sp>
      <p:grpSp>
        <p:nvGrpSpPr>
          <p:cNvPr id="113" name="กลุ่ม 112">
            <a:extLst>
              <a:ext uri="{FF2B5EF4-FFF2-40B4-BE49-F238E27FC236}">
                <a16:creationId xmlns:a16="http://schemas.microsoft.com/office/drawing/2014/main" id="{A113B6C8-1CA3-0CAC-3615-0EA3EE484422}"/>
              </a:ext>
            </a:extLst>
          </p:cNvPr>
          <p:cNvGrpSpPr/>
          <p:nvPr/>
        </p:nvGrpSpPr>
        <p:grpSpPr>
          <a:xfrm>
            <a:off x="6271618" y="3888262"/>
            <a:ext cx="164592" cy="164592"/>
            <a:chOff x="7171944" y="3925389"/>
            <a:chExt cx="164592" cy="164592"/>
          </a:xfrm>
        </p:grpSpPr>
        <p:sp>
          <p:nvSpPr>
            <p:cNvPr id="145" name="Shape 141"/>
            <p:cNvSpPr/>
            <p:nvPr/>
          </p:nvSpPr>
          <p:spPr>
            <a:xfrm>
              <a:off x="7171944" y="3925389"/>
              <a:ext cx="164592" cy="164592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46" name="Text 142"/>
            <p:cNvSpPr/>
            <p:nvPr/>
          </p:nvSpPr>
          <p:spPr>
            <a:xfrm>
              <a:off x="7198722" y="3954192"/>
              <a:ext cx="106121" cy="134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8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5</a:t>
              </a:r>
              <a:endParaRPr lang="en-US" sz="580" dirty="0"/>
            </a:p>
          </p:txBody>
        </p:sp>
      </p:grpSp>
      <p:sp>
        <p:nvSpPr>
          <p:cNvPr id="147" name="Text 143"/>
          <p:cNvSpPr/>
          <p:nvPr/>
        </p:nvSpPr>
        <p:spPr>
          <a:xfrm>
            <a:off x="6512319" y="3799800"/>
            <a:ext cx="1302563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การดำเนินการตามภารกิจกรม</a:t>
            </a:r>
            <a:endParaRPr lang="en-US" sz="700" dirty="0"/>
          </a:p>
        </p:txBody>
      </p:sp>
      <p:sp>
        <p:nvSpPr>
          <p:cNvPr id="148" name="Shape 144"/>
          <p:cNvSpPr/>
          <p:nvPr/>
        </p:nvSpPr>
        <p:spPr>
          <a:xfrm>
            <a:off x="7717496" y="3902093"/>
            <a:ext cx="450796" cy="105885"/>
          </a:xfrm>
          <a:prstGeom prst="rect">
            <a:avLst/>
          </a:prstGeom>
          <a:solidFill>
            <a:srgbClr val="0A2E6D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9" name="Text 145"/>
          <p:cNvSpPr/>
          <p:nvPr/>
        </p:nvSpPr>
        <p:spPr>
          <a:xfrm>
            <a:off x="8330702" y="3785386"/>
            <a:ext cx="307878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</a:t>
            </a:r>
            <a:endParaRPr lang="en-US" sz="1000" b="1" dirty="0"/>
          </a:p>
        </p:txBody>
      </p:sp>
      <p:grpSp>
        <p:nvGrpSpPr>
          <p:cNvPr id="114" name="กลุ่ม 113">
            <a:extLst>
              <a:ext uri="{FF2B5EF4-FFF2-40B4-BE49-F238E27FC236}">
                <a16:creationId xmlns:a16="http://schemas.microsoft.com/office/drawing/2014/main" id="{496DB7F2-D712-1A76-B4FE-9E87B0F09D38}"/>
              </a:ext>
            </a:extLst>
          </p:cNvPr>
          <p:cNvGrpSpPr/>
          <p:nvPr/>
        </p:nvGrpSpPr>
        <p:grpSpPr>
          <a:xfrm>
            <a:off x="6275991" y="4175145"/>
            <a:ext cx="164592" cy="164592"/>
            <a:chOff x="7171944" y="4232366"/>
            <a:chExt cx="164592" cy="164592"/>
          </a:xfrm>
        </p:grpSpPr>
        <p:sp>
          <p:nvSpPr>
            <p:cNvPr id="150" name="Shape 146"/>
            <p:cNvSpPr/>
            <p:nvPr/>
          </p:nvSpPr>
          <p:spPr>
            <a:xfrm>
              <a:off x="7171944" y="4232366"/>
              <a:ext cx="164592" cy="164592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51" name="Text 147"/>
            <p:cNvSpPr/>
            <p:nvPr/>
          </p:nvSpPr>
          <p:spPr>
            <a:xfrm>
              <a:off x="7202888" y="4262541"/>
              <a:ext cx="106121" cy="117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8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6</a:t>
              </a:r>
              <a:endParaRPr lang="en-US" sz="580" dirty="0"/>
            </a:p>
          </p:txBody>
        </p:sp>
      </p:grpSp>
      <p:sp>
        <p:nvSpPr>
          <p:cNvPr id="152" name="Text 148"/>
          <p:cNvSpPr/>
          <p:nvPr/>
        </p:nvSpPr>
        <p:spPr>
          <a:xfrm>
            <a:off x="6530595" y="4110663"/>
            <a:ext cx="1302563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การป้องกันและแก้ไขปัญหา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การกัดเซาะชายฝั่ง</a:t>
            </a:r>
            <a:endParaRPr lang="en-US" sz="700" dirty="0"/>
          </a:p>
        </p:txBody>
      </p:sp>
      <p:sp>
        <p:nvSpPr>
          <p:cNvPr id="153" name="Shape 149"/>
          <p:cNvSpPr/>
          <p:nvPr/>
        </p:nvSpPr>
        <p:spPr>
          <a:xfrm>
            <a:off x="7706637" y="4171305"/>
            <a:ext cx="731145" cy="109373"/>
          </a:xfrm>
          <a:prstGeom prst="rect">
            <a:avLst/>
          </a:prstGeom>
          <a:solidFill>
            <a:srgbClr val="0A2E6D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4" name="Text 150"/>
          <p:cNvSpPr/>
          <p:nvPr/>
        </p:nvSpPr>
        <p:spPr>
          <a:xfrm>
            <a:off x="8493003" y="4080187"/>
            <a:ext cx="307878" cy="30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cs typeface="Prompt" pitchFamily="34" charset="-120"/>
              </a:rPr>
              <a:t>37</a:t>
            </a:r>
            <a:endParaRPr lang="en-US" sz="1000" b="1" dirty="0"/>
          </a:p>
        </p:txBody>
      </p:sp>
      <p:grpSp>
        <p:nvGrpSpPr>
          <p:cNvPr id="115" name="กลุ่ม 114">
            <a:extLst>
              <a:ext uri="{FF2B5EF4-FFF2-40B4-BE49-F238E27FC236}">
                <a16:creationId xmlns:a16="http://schemas.microsoft.com/office/drawing/2014/main" id="{BEF4DA7D-FFB2-BF2F-3728-CD559AD64B1B}"/>
              </a:ext>
            </a:extLst>
          </p:cNvPr>
          <p:cNvGrpSpPr/>
          <p:nvPr/>
        </p:nvGrpSpPr>
        <p:grpSpPr>
          <a:xfrm>
            <a:off x="6275991" y="4472394"/>
            <a:ext cx="164592" cy="164592"/>
            <a:chOff x="7171944" y="4539343"/>
            <a:chExt cx="164592" cy="164592"/>
          </a:xfrm>
        </p:grpSpPr>
        <p:sp>
          <p:nvSpPr>
            <p:cNvPr id="155" name="Shape 151"/>
            <p:cNvSpPr/>
            <p:nvPr/>
          </p:nvSpPr>
          <p:spPr>
            <a:xfrm>
              <a:off x="7171944" y="4539343"/>
              <a:ext cx="164592" cy="164592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56" name="Text 152"/>
            <p:cNvSpPr/>
            <p:nvPr/>
          </p:nvSpPr>
          <p:spPr>
            <a:xfrm>
              <a:off x="7205783" y="4569517"/>
              <a:ext cx="99060" cy="111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8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7</a:t>
              </a:r>
              <a:endParaRPr lang="en-US" sz="580" dirty="0"/>
            </a:p>
          </p:txBody>
        </p:sp>
      </p:grpSp>
      <p:sp>
        <p:nvSpPr>
          <p:cNvPr id="157" name="Text 153"/>
          <p:cNvSpPr/>
          <p:nvPr/>
        </p:nvSpPr>
        <p:spPr>
          <a:xfrm>
            <a:off x="6507343" y="4423991"/>
            <a:ext cx="1302563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การมีส่วนร่วมของชุมชนชายฝั่ง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และภาคีเครือข่าย</a:t>
            </a:r>
            <a:endParaRPr lang="en-US" sz="700" dirty="0"/>
          </a:p>
        </p:txBody>
      </p:sp>
      <p:sp>
        <p:nvSpPr>
          <p:cNvPr id="158" name="Shape 154"/>
          <p:cNvSpPr/>
          <p:nvPr/>
        </p:nvSpPr>
        <p:spPr>
          <a:xfrm>
            <a:off x="7706031" y="4475595"/>
            <a:ext cx="45719" cy="79092"/>
          </a:xfrm>
          <a:prstGeom prst="rect">
            <a:avLst/>
          </a:prstGeom>
          <a:solidFill>
            <a:srgbClr val="0A2E6D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9" name="Text 155"/>
          <p:cNvSpPr/>
          <p:nvPr/>
        </p:nvSpPr>
        <p:spPr>
          <a:xfrm>
            <a:off x="8340366" y="4416176"/>
            <a:ext cx="307878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cs typeface="Prompt" pitchFamily="34" charset="-120"/>
              </a:rPr>
              <a:t>1</a:t>
            </a:r>
            <a:endParaRPr lang="en-US" sz="1000" b="1" dirty="0"/>
          </a:p>
        </p:txBody>
      </p:sp>
      <p:sp>
        <p:nvSpPr>
          <p:cNvPr id="163" name="Text 159"/>
          <p:cNvSpPr/>
          <p:nvPr/>
        </p:nvSpPr>
        <p:spPr>
          <a:xfrm>
            <a:off x="9103954" y="2114241"/>
            <a:ext cx="26918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สถานะการดำเนินงาน 7 กลุ่ม (ร้อยละ)</a:t>
            </a:r>
            <a:endParaRPr lang="en-US" sz="1200" dirty="0"/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C1CA2095-0873-54E2-17FA-4E7AFDD6CB3E}"/>
              </a:ext>
            </a:extLst>
          </p:cNvPr>
          <p:cNvGrpSpPr/>
          <p:nvPr/>
        </p:nvGrpSpPr>
        <p:grpSpPr>
          <a:xfrm>
            <a:off x="9309521" y="2452977"/>
            <a:ext cx="2240280" cy="2303014"/>
            <a:chOff x="9808917" y="2633471"/>
            <a:chExt cx="1550979" cy="1536111"/>
          </a:xfrm>
        </p:grpSpPr>
        <p:graphicFrame>
          <p:nvGraphicFramePr>
            <p:cNvPr id="164" name="Chart 2"/>
            <p:cNvGraphicFramePr/>
            <p:nvPr>
              <p:extLst>
                <p:ext uri="{D42A27DB-BD31-4B8C-83A1-F6EECF244321}">
                  <p14:modId xmlns:p14="http://schemas.microsoft.com/office/powerpoint/2010/main" val="2504277242"/>
                </p:ext>
              </p:extLst>
            </p:nvPr>
          </p:nvGraphicFramePr>
          <p:xfrm>
            <a:off x="9808917" y="2633471"/>
            <a:ext cx="1550979" cy="15361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5" name="Text 160"/>
            <p:cNvSpPr/>
            <p:nvPr/>
          </p:nvSpPr>
          <p:spPr>
            <a:xfrm>
              <a:off x="10152449" y="2927291"/>
              <a:ext cx="457200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14%</a:t>
              </a:r>
              <a:endParaRPr lang="en-US" sz="1100" dirty="0"/>
            </a:p>
          </p:txBody>
        </p:sp>
        <p:sp>
          <p:nvSpPr>
            <p:cNvPr id="166" name="Text 161"/>
            <p:cNvSpPr/>
            <p:nvPr/>
          </p:nvSpPr>
          <p:spPr>
            <a:xfrm>
              <a:off x="9964817" y="3119886"/>
              <a:ext cx="457200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3%</a:t>
              </a:r>
              <a:endParaRPr lang="en-US" sz="1100" dirty="0"/>
            </a:p>
          </p:txBody>
        </p:sp>
        <p:sp>
          <p:nvSpPr>
            <p:cNvPr id="167" name="Text 162"/>
            <p:cNvSpPr/>
            <p:nvPr/>
          </p:nvSpPr>
          <p:spPr>
            <a:xfrm rot="20759075">
              <a:off x="10706603" y="3677967"/>
              <a:ext cx="457200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83%</a:t>
              </a:r>
              <a:endParaRPr lang="en-US" sz="1050" dirty="0"/>
            </a:p>
          </p:txBody>
        </p:sp>
      </p:grpSp>
      <p:sp>
        <p:nvSpPr>
          <p:cNvPr id="169" name="Shape 164"/>
          <p:cNvSpPr/>
          <p:nvPr/>
        </p:nvSpPr>
        <p:spPr>
          <a:xfrm>
            <a:off x="9299449" y="4665405"/>
            <a:ext cx="82296" cy="82296"/>
          </a:xfrm>
          <a:prstGeom prst="rect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0" name="Text 165"/>
          <p:cNvSpPr/>
          <p:nvPr/>
        </p:nvSpPr>
        <p:spPr>
          <a:xfrm>
            <a:off x="9519687" y="4636986"/>
            <a:ext cx="4046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เสร็จสิ้น</a:t>
            </a:r>
            <a:endParaRPr lang="en-US" sz="800" dirty="0"/>
          </a:p>
        </p:txBody>
      </p:sp>
      <p:sp>
        <p:nvSpPr>
          <p:cNvPr id="173" name="Shape 168"/>
          <p:cNvSpPr/>
          <p:nvPr/>
        </p:nvSpPr>
        <p:spPr>
          <a:xfrm>
            <a:off x="10808820" y="4653814"/>
            <a:ext cx="82296" cy="82296"/>
          </a:xfrm>
          <a:prstGeom prst="rect">
            <a:avLst/>
          </a:prstGeom>
          <a:solidFill>
            <a:srgbClr val="F2A000"/>
          </a:solidFill>
          <a:ln w="12700">
            <a:solidFill>
              <a:srgbClr val="F2A00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4" name="Text 169"/>
          <p:cNvSpPr/>
          <p:nvPr/>
        </p:nvSpPr>
        <p:spPr>
          <a:xfrm>
            <a:off x="10933901" y="4637349"/>
            <a:ext cx="921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800" dirty="0">
                <a:solidFill>
                  <a:srgbClr val="07275B"/>
                </a:solidFill>
                <a:latin typeface="Prompt" pitchFamily="34" charset="0"/>
                <a:cs typeface="Prompt" pitchFamily="34" charset="-120"/>
              </a:rPr>
              <a:t>ต้องเร่งรัดติดตาม</a:t>
            </a:r>
            <a:endParaRPr lang="en-US" sz="800" dirty="0"/>
          </a:p>
        </p:txBody>
      </p:sp>
      <p:sp>
        <p:nvSpPr>
          <p:cNvPr id="175" name="Shape 170"/>
          <p:cNvSpPr/>
          <p:nvPr/>
        </p:nvSpPr>
        <p:spPr>
          <a:xfrm>
            <a:off x="9983126" y="4673695"/>
            <a:ext cx="82296" cy="82296"/>
          </a:xfrm>
          <a:prstGeom prst="rect">
            <a:avLst/>
          </a:prstGeom>
          <a:solidFill>
            <a:srgbClr val="6A4AA3"/>
          </a:solidFill>
          <a:ln w="12700">
            <a:solidFill>
              <a:srgbClr val="6A4AA3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6" name="Text 171"/>
          <p:cNvSpPr/>
          <p:nvPr/>
        </p:nvSpPr>
        <p:spPr>
          <a:xfrm>
            <a:off x="10188856" y="4639944"/>
            <a:ext cx="500637" cy="14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8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อยู่ระหว่างเ</a:t>
            </a:r>
            <a:r>
              <a:rPr lang="en-US" sz="8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สนอระดับถัดไป</a:t>
            </a:r>
            <a:endParaRPr lang="en-US" sz="800" dirty="0"/>
          </a:p>
        </p:txBody>
      </p:sp>
      <p:sp>
        <p:nvSpPr>
          <p:cNvPr id="180" name="Text 175"/>
          <p:cNvSpPr/>
          <p:nvPr/>
        </p:nvSpPr>
        <p:spPr>
          <a:xfrm>
            <a:off x="304800" y="5824728"/>
            <a:ext cx="502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⌕</a:t>
            </a:r>
            <a:endParaRPr lang="en-US" sz="2400" dirty="0"/>
          </a:p>
        </p:txBody>
      </p:sp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37510989-E03B-5FF4-E295-4AE0919E2B78}"/>
              </a:ext>
            </a:extLst>
          </p:cNvPr>
          <p:cNvGrpSpPr/>
          <p:nvPr/>
        </p:nvGrpSpPr>
        <p:grpSpPr>
          <a:xfrm>
            <a:off x="327440" y="5252707"/>
            <a:ext cx="8633680" cy="1440376"/>
            <a:chOff x="-66670" y="5333238"/>
            <a:chExt cx="7165462" cy="1335023"/>
          </a:xfrm>
        </p:grpSpPr>
        <p:sp>
          <p:nvSpPr>
            <p:cNvPr id="178" name="Shape 173"/>
            <p:cNvSpPr/>
            <p:nvPr/>
          </p:nvSpPr>
          <p:spPr>
            <a:xfrm>
              <a:off x="118872" y="5333238"/>
              <a:ext cx="6979920" cy="132588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79" name="Shape 174"/>
            <p:cNvSpPr/>
            <p:nvPr/>
          </p:nvSpPr>
          <p:spPr>
            <a:xfrm>
              <a:off x="100878" y="5342381"/>
              <a:ext cx="981349" cy="1325880"/>
            </a:xfrm>
            <a:prstGeom prst="roundRect">
              <a:avLst>
                <a:gd name="adj" fmla="val 5517"/>
              </a:avLst>
            </a:prstGeom>
            <a:solidFill>
              <a:srgbClr val="0A2E6D"/>
            </a:solidFill>
            <a:ln w="1016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1" name="Text 176"/>
            <p:cNvSpPr/>
            <p:nvPr/>
          </p:nvSpPr>
          <p:spPr>
            <a:xfrm>
              <a:off x="-66670" y="5599613"/>
              <a:ext cx="1325880" cy="732504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th-TH" sz="16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ข้อสังเกต</a:t>
              </a:r>
            </a:p>
            <a:p>
              <a:pPr marL="0" indent="0" algn="ctr">
                <a:buNone/>
              </a:pPr>
              <a:r>
                <a:rPr lang="th-TH" sz="10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จากการดำเนินงาน</a:t>
              </a:r>
              <a:endParaRPr lang="en-US" sz="1000" dirty="0"/>
            </a:p>
          </p:txBody>
        </p:sp>
      </p:grp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261C7C7E-C3EA-A4A6-393F-626A474B85F6}"/>
              </a:ext>
            </a:extLst>
          </p:cNvPr>
          <p:cNvGrpSpPr/>
          <p:nvPr/>
        </p:nvGrpSpPr>
        <p:grpSpPr>
          <a:xfrm>
            <a:off x="1745251" y="5366950"/>
            <a:ext cx="201168" cy="201168"/>
            <a:chOff x="2618232" y="5477256"/>
            <a:chExt cx="201168" cy="201168"/>
          </a:xfrm>
        </p:grpSpPr>
        <p:sp>
          <p:nvSpPr>
            <p:cNvPr id="182" name="Shape 177"/>
            <p:cNvSpPr/>
            <p:nvPr/>
          </p:nvSpPr>
          <p:spPr>
            <a:xfrm>
              <a:off x="2618232" y="5477256"/>
              <a:ext cx="201168" cy="20116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3" name="Text 178"/>
            <p:cNvSpPr/>
            <p:nvPr/>
          </p:nvSpPr>
          <p:spPr>
            <a:xfrm>
              <a:off x="2650768" y="5531537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1</a:t>
              </a:r>
              <a:endParaRPr lang="en-US" sz="820" dirty="0"/>
            </a:p>
          </p:txBody>
        </p:sp>
      </p:grpSp>
      <p:sp>
        <p:nvSpPr>
          <p:cNvPr id="184" name="Text 179"/>
          <p:cNvSpPr/>
          <p:nvPr/>
        </p:nvSpPr>
        <p:spPr>
          <a:xfrm>
            <a:off x="2019729" y="5386520"/>
            <a:ext cx="6941391" cy="210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กลไกมีการแบ่งบทบาทตามโครงสร้าง แต่ลักษณะวาระยังไม่สะท้อนบทบาทเต็มที่ และหลายวาระยังเป็นการรับทราบมากกว่าการตัดสินใจ</a:t>
            </a:r>
            <a:endParaRPr lang="en-US" sz="1000" dirty="0"/>
          </a:p>
        </p:txBody>
      </p:sp>
      <p:grpSp>
        <p:nvGrpSpPr>
          <p:cNvPr id="25" name="กลุ่ม 24">
            <a:extLst>
              <a:ext uri="{FF2B5EF4-FFF2-40B4-BE49-F238E27FC236}">
                <a16:creationId xmlns:a16="http://schemas.microsoft.com/office/drawing/2014/main" id="{66E0D5D1-22EB-C1B0-4F9C-614F47CF215C}"/>
              </a:ext>
            </a:extLst>
          </p:cNvPr>
          <p:cNvGrpSpPr/>
          <p:nvPr/>
        </p:nvGrpSpPr>
        <p:grpSpPr>
          <a:xfrm>
            <a:off x="1746462" y="5653748"/>
            <a:ext cx="201168" cy="201168"/>
            <a:chOff x="2618232" y="5710428"/>
            <a:chExt cx="201168" cy="201168"/>
          </a:xfrm>
        </p:grpSpPr>
        <p:sp>
          <p:nvSpPr>
            <p:cNvPr id="185" name="Shape 180"/>
            <p:cNvSpPr/>
            <p:nvPr/>
          </p:nvSpPr>
          <p:spPr>
            <a:xfrm>
              <a:off x="2618232" y="5710428"/>
              <a:ext cx="201168" cy="20116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6" name="Text 181"/>
            <p:cNvSpPr/>
            <p:nvPr/>
          </p:nvSpPr>
          <p:spPr>
            <a:xfrm>
              <a:off x="2659380" y="5768043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2</a:t>
              </a:r>
              <a:endParaRPr lang="en-US" sz="820" dirty="0"/>
            </a:p>
          </p:txBody>
        </p:sp>
      </p:grpSp>
      <p:sp>
        <p:nvSpPr>
          <p:cNvPr id="187" name="Text 182"/>
          <p:cNvSpPr/>
          <p:nvPr/>
        </p:nvSpPr>
        <p:spPr>
          <a:xfrm>
            <a:off x="2019057" y="5656429"/>
            <a:ext cx="5979825" cy="24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ประเด็นหนึ่งอาจผ่านหลายกลไก แต่ยังไม่เห็นชัดเจนว่าแต่ละกลไกช่วยพัฒนาประเด็นอย่างไร</a:t>
            </a:r>
            <a:endParaRPr lang="en-US" sz="1000" dirty="0"/>
          </a:p>
        </p:txBody>
      </p:sp>
      <p:grpSp>
        <p:nvGrpSpPr>
          <p:cNvPr id="109" name="กลุ่ม 108">
            <a:extLst>
              <a:ext uri="{FF2B5EF4-FFF2-40B4-BE49-F238E27FC236}">
                <a16:creationId xmlns:a16="http://schemas.microsoft.com/office/drawing/2014/main" id="{3752FEC6-667B-1A02-11E8-0D2B51B35523}"/>
              </a:ext>
            </a:extLst>
          </p:cNvPr>
          <p:cNvGrpSpPr/>
          <p:nvPr/>
        </p:nvGrpSpPr>
        <p:grpSpPr>
          <a:xfrm>
            <a:off x="1749976" y="5935070"/>
            <a:ext cx="201168" cy="201168"/>
            <a:chOff x="2618232" y="5943600"/>
            <a:chExt cx="201168" cy="201168"/>
          </a:xfrm>
        </p:grpSpPr>
        <p:sp>
          <p:nvSpPr>
            <p:cNvPr id="188" name="Shape 183"/>
            <p:cNvSpPr/>
            <p:nvPr/>
          </p:nvSpPr>
          <p:spPr>
            <a:xfrm>
              <a:off x="2618232" y="5943600"/>
              <a:ext cx="201168" cy="20116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9" name="Text 184"/>
            <p:cNvSpPr/>
            <p:nvPr/>
          </p:nvSpPr>
          <p:spPr>
            <a:xfrm>
              <a:off x="2659380" y="6001215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3</a:t>
              </a:r>
              <a:endParaRPr lang="en-US" sz="820" dirty="0"/>
            </a:p>
          </p:txBody>
        </p:sp>
      </p:grpSp>
      <p:sp>
        <p:nvSpPr>
          <p:cNvPr id="190" name="Text 185"/>
          <p:cNvSpPr/>
          <p:nvPr/>
        </p:nvSpPr>
        <p:spPr>
          <a:xfrm>
            <a:off x="2030069" y="5952511"/>
            <a:ext cx="42150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เชื่อมโยงระหว่างระดับ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จังหวัด.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และระดับชาติยังไม่ต่อเนื่องครบวงจร</a:t>
            </a:r>
            <a:endParaRPr lang="en-US" sz="1000" dirty="0"/>
          </a:p>
        </p:txBody>
      </p:sp>
      <p:grpSp>
        <p:nvGrpSpPr>
          <p:cNvPr id="110" name="กลุ่ม 109">
            <a:extLst>
              <a:ext uri="{FF2B5EF4-FFF2-40B4-BE49-F238E27FC236}">
                <a16:creationId xmlns:a16="http://schemas.microsoft.com/office/drawing/2014/main" id="{C2EF0AFE-47B8-1B95-430D-40DB96422C1C}"/>
              </a:ext>
            </a:extLst>
          </p:cNvPr>
          <p:cNvGrpSpPr/>
          <p:nvPr/>
        </p:nvGrpSpPr>
        <p:grpSpPr>
          <a:xfrm>
            <a:off x="1761477" y="6206490"/>
            <a:ext cx="201168" cy="201168"/>
            <a:chOff x="2618232" y="6158484"/>
            <a:chExt cx="201168" cy="201168"/>
          </a:xfrm>
        </p:grpSpPr>
        <p:sp>
          <p:nvSpPr>
            <p:cNvPr id="191" name="Shape 186"/>
            <p:cNvSpPr/>
            <p:nvPr/>
          </p:nvSpPr>
          <p:spPr>
            <a:xfrm>
              <a:off x="2618232" y="6158484"/>
              <a:ext cx="201168" cy="20116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92" name="Text 187"/>
            <p:cNvSpPr/>
            <p:nvPr/>
          </p:nvSpPr>
          <p:spPr>
            <a:xfrm>
              <a:off x="2659380" y="6208776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4</a:t>
              </a:r>
              <a:endParaRPr lang="en-US" sz="820" dirty="0"/>
            </a:p>
          </p:txBody>
        </p:sp>
      </p:grpSp>
      <p:sp>
        <p:nvSpPr>
          <p:cNvPr id="193" name="Text 188"/>
          <p:cNvSpPr/>
          <p:nvPr/>
        </p:nvSpPr>
        <p:spPr>
          <a:xfrm>
            <a:off x="2030069" y="6188605"/>
            <a:ext cx="5979825" cy="22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วาระที่มีขั้นตอนตามกฎหมายกำหนด มีการดำเนินงานได้ชัดกว่าวาระปัญหาทรัพยากรทั่วไป</a:t>
            </a:r>
            <a:endParaRPr lang="en-US" sz="1000" dirty="0"/>
          </a:p>
        </p:txBody>
      </p:sp>
      <p:grpSp>
        <p:nvGrpSpPr>
          <p:cNvPr id="111" name="กลุ่ม 110">
            <a:extLst>
              <a:ext uri="{FF2B5EF4-FFF2-40B4-BE49-F238E27FC236}">
                <a16:creationId xmlns:a16="http://schemas.microsoft.com/office/drawing/2014/main" id="{DB0CC512-7AA2-4BD1-49B6-75CB3A5281B0}"/>
              </a:ext>
            </a:extLst>
          </p:cNvPr>
          <p:cNvGrpSpPr/>
          <p:nvPr/>
        </p:nvGrpSpPr>
        <p:grpSpPr>
          <a:xfrm>
            <a:off x="1749976" y="6467094"/>
            <a:ext cx="201168" cy="201168"/>
            <a:chOff x="2618232" y="6409944"/>
            <a:chExt cx="201168" cy="201168"/>
          </a:xfrm>
        </p:grpSpPr>
        <p:sp>
          <p:nvSpPr>
            <p:cNvPr id="194" name="Shape 189"/>
            <p:cNvSpPr/>
            <p:nvPr/>
          </p:nvSpPr>
          <p:spPr>
            <a:xfrm>
              <a:off x="2618232" y="6409944"/>
              <a:ext cx="201168" cy="20116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95" name="Text 190"/>
            <p:cNvSpPr/>
            <p:nvPr/>
          </p:nvSpPr>
          <p:spPr>
            <a:xfrm>
              <a:off x="2659380" y="6453164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82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5</a:t>
              </a:r>
              <a:endParaRPr lang="en-US" sz="820" dirty="0"/>
            </a:p>
          </p:txBody>
        </p:sp>
      </p:grpSp>
      <p:sp>
        <p:nvSpPr>
          <p:cNvPr id="196" name="Text 191"/>
          <p:cNvSpPr/>
          <p:nvPr/>
        </p:nvSpPr>
        <p:spPr>
          <a:xfrm>
            <a:off x="2030069" y="6431706"/>
            <a:ext cx="6770812" cy="2261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ประเด็น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ที่เกี่ยวข้องหลาย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ด้านยัง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ไม่ปรากฎ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เจ้าภาพหลัก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อย่างชัดเจนและขาดการติดตามความคืบหน้า</a:t>
            </a:r>
            <a:endParaRPr lang="en-US" sz="1000" dirty="0"/>
          </a:p>
        </p:txBody>
      </p:sp>
      <p:pic>
        <p:nvPicPr>
          <p:cNvPr id="198" name="รูปภาพ 197">
            <a:extLst>
              <a:ext uri="{FF2B5EF4-FFF2-40B4-BE49-F238E27FC236}">
                <a16:creationId xmlns:a16="http://schemas.microsoft.com/office/drawing/2014/main" id="{F749AA22-F182-B770-1F0F-29DF5665E6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12" y="210312"/>
            <a:ext cx="448120" cy="575140"/>
          </a:xfrm>
          <a:prstGeom prst="rect">
            <a:avLst/>
          </a:prstGeom>
        </p:spPr>
      </p:pic>
      <p:sp>
        <p:nvSpPr>
          <p:cNvPr id="2" name="Text 104">
            <a:extLst>
              <a:ext uri="{FF2B5EF4-FFF2-40B4-BE49-F238E27FC236}">
                <a16:creationId xmlns:a16="http://schemas.microsoft.com/office/drawing/2014/main" id="{AABBD76D-CDD9-D92B-D24A-6E6A94DBC3C7}"/>
              </a:ext>
            </a:extLst>
          </p:cNvPr>
          <p:cNvSpPr/>
          <p:nvPr/>
        </p:nvSpPr>
        <p:spPr>
          <a:xfrm>
            <a:off x="3941705" y="3231539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ompt" pitchFamily="34" charset="0"/>
                <a:cs typeface="Prompt" pitchFamily="34" charset="-120"/>
              </a:rPr>
              <a:t>25.1%</a:t>
            </a:r>
            <a:endParaRPr lang="en-US" sz="1000" dirty="0"/>
          </a:p>
        </p:txBody>
      </p:sp>
      <p:sp>
        <p:nvSpPr>
          <p:cNvPr id="3" name="Text 104">
            <a:extLst>
              <a:ext uri="{FF2B5EF4-FFF2-40B4-BE49-F238E27FC236}">
                <a16:creationId xmlns:a16="http://schemas.microsoft.com/office/drawing/2014/main" id="{2077DB10-F648-61F2-6528-F051354340E7}"/>
              </a:ext>
            </a:extLst>
          </p:cNvPr>
          <p:cNvSpPr/>
          <p:nvPr/>
        </p:nvSpPr>
        <p:spPr>
          <a:xfrm rot="21376066">
            <a:off x="5148192" y="3550042"/>
            <a:ext cx="457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rompt" pitchFamily="34" charset="0"/>
                <a:cs typeface="Prompt" pitchFamily="34" charset="-120"/>
              </a:rPr>
              <a:t>68.5%</a:t>
            </a:r>
            <a:endParaRPr lang="en-US" sz="1000" dirty="0"/>
          </a:p>
        </p:txBody>
      </p:sp>
      <p:grpSp>
        <p:nvGrpSpPr>
          <p:cNvPr id="104" name="กลุ่ม 103">
            <a:extLst>
              <a:ext uri="{FF2B5EF4-FFF2-40B4-BE49-F238E27FC236}">
                <a16:creationId xmlns:a16="http://schemas.microsoft.com/office/drawing/2014/main" id="{86CE7162-FD89-D8A6-ED77-196AD71C885E}"/>
              </a:ext>
            </a:extLst>
          </p:cNvPr>
          <p:cNvGrpSpPr/>
          <p:nvPr/>
        </p:nvGrpSpPr>
        <p:grpSpPr>
          <a:xfrm>
            <a:off x="6258854" y="2621817"/>
            <a:ext cx="2379726" cy="327224"/>
            <a:chOff x="7171944" y="2639187"/>
            <a:chExt cx="2379726" cy="327224"/>
          </a:xfrm>
        </p:grpSpPr>
        <p:grpSp>
          <p:nvGrpSpPr>
            <p:cNvPr id="103" name="กลุ่ม 102">
              <a:extLst>
                <a:ext uri="{FF2B5EF4-FFF2-40B4-BE49-F238E27FC236}">
                  <a16:creationId xmlns:a16="http://schemas.microsoft.com/office/drawing/2014/main" id="{51B60169-141B-5FBB-5AA1-E3F1BA62F5FF}"/>
                </a:ext>
              </a:extLst>
            </p:cNvPr>
            <p:cNvGrpSpPr/>
            <p:nvPr/>
          </p:nvGrpSpPr>
          <p:grpSpPr>
            <a:xfrm>
              <a:off x="7171944" y="2697480"/>
              <a:ext cx="164592" cy="164592"/>
              <a:chOff x="7171944" y="2697480"/>
              <a:chExt cx="164592" cy="164592"/>
            </a:xfrm>
          </p:grpSpPr>
          <p:sp>
            <p:nvSpPr>
              <p:cNvPr id="125" name="Shape 121"/>
              <p:cNvSpPr/>
              <p:nvPr/>
            </p:nvSpPr>
            <p:spPr>
              <a:xfrm>
                <a:off x="7171944" y="2697480"/>
                <a:ext cx="164592" cy="164592"/>
              </a:xfrm>
              <a:prstGeom prst="ellipse">
                <a:avLst/>
              </a:prstGeom>
              <a:solidFill>
                <a:srgbClr val="087B8C"/>
              </a:solidFill>
              <a:ln w="12700">
                <a:solidFill>
                  <a:srgbClr val="087B8C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26" name="Text 122"/>
              <p:cNvSpPr/>
              <p:nvPr/>
            </p:nvSpPr>
            <p:spPr>
              <a:xfrm>
                <a:off x="7176346" y="2719654"/>
                <a:ext cx="146010" cy="1344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b="1" dirty="0">
                    <a:solidFill>
                      <a:srgbClr val="FFFFFF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1</a:t>
                </a:r>
                <a:endParaRPr lang="en-US" sz="600" dirty="0"/>
              </a:p>
            </p:txBody>
          </p:sp>
        </p:grpSp>
        <p:sp>
          <p:nvSpPr>
            <p:cNvPr id="127" name="Text 123"/>
            <p:cNvSpPr/>
            <p:nvPr/>
          </p:nvSpPr>
          <p:spPr>
            <a:xfrm>
              <a:off x="7391400" y="2639187"/>
              <a:ext cx="1302563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รายงานสถานการณ์</a:t>
              </a:r>
              <a:endParaRPr lang="en-US" sz="700" dirty="0"/>
            </a:p>
          </p:txBody>
        </p:sp>
        <p:sp>
          <p:nvSpPr>
            <p:cNvPr id="129" name="Text 125"/>
            <p:cNvSpPr/>
            <p:nvPr/>
          </p:nvSpPr>
          <p:spPr>
            <a:xfrm>
              <a:off x="9243792" y="2659434"/>
              <a:ext cx="307878" cy="3069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7275B"/>
                  </a:solidFill>
                  <a:latin typeface="Prompt" pitchFamily="34" charset="0"/>
                  <a:cs typeface="Prompt" pitchFamily="34" charset="-120"/>
                </a:rPr>
                <a:t>3</a:t>
              </a:r>
              <a:endParaRPr lang="en-US" sz="1000" b="1" dirty="0"/>
            </a:p>
          </p:txBody>
        </p:sp>
        <p:sp>
          <p:nvSpPr>
            <p:cNvPr id="6" name="Shape 154">
              <a:extLst>
                <a:ext uri="{FF2B5EF4-FFF2-40B4-BE49-F238E27FC236}">
                  <a16:creationId xmlns:a16="http://schemas.microsoft.com/office/drawing/2014/main" id="{A0D67575-F6B0-43B1-F5A1-94CD501F7F9F}"/>
                </a:ext>
              </a:extLst>
            </p:cNvPr>
            <p:cNvSpPr/>
            <p:nvPr/>
          </p:nvSpPr>
          <p:spPr>
            <a:xfrm>
              <a:off x="8636683" y="2747259"/>
              <a:ext cx="101204" cy="106812"/>
            </a:xfrm>
            <a:prstGeom prst="rect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7" name="Text 108">
            <a:extLst>
              <a:ext uri="{FF2B5EF4-FFF2-40B4-BE49-F238E27FC236}">
                <a16:creationId xmlns:a16="http://schemas.microsoft.com/office/drawing/2014/main" id="{4DEFECCA-840F-E9E9-A084-954A82234FFC}"/>
              </a:ext>
            </a:extLst>
          </p:cNvPr>
          <p:cNvSpPr/>
          <p:nvPr/>
        </p:nvSpPr>
        <p:spPr>
          <a:xfrm>
            <a:off x="9200712" y="5132368"/>
            <a:ext cx="2537380" cy="1369016"/>
          </a:xfrm>
          <a:prstGeom prst="roundRect">
            <a:avLst/>
          </a:prstGeom>
          <a:solidFill>
            <a:srgbClr val="FFF5D6"/>
          </a:solidFill>
          <a:ln w="10160">
            <a:solidFill>
              <a:srgbClr val="F0C36D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ความหมายสถานะ</a:t>
            </a:r>
            <a:endParaRPr lang="en-US" sz="1100" b="1" dirty="0">
              <a:solidFill>
                <a:srgbClr val="0A2C58"/>
              </a:solidFill>
              <a:latin typeface="TH SarabunPSK" panose="020B0500040200020003" pitchFamily="34" charset="-34"/>
              <a:ea typeface="Tahoma" pitchFamily="34" charset="-122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th-TH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เสร็จสิ้น </a:t>
            </a:r>
            <a:r>
              <a:rPr lang="en-US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: </a:t>
            </a:r>
            <a:r>
              <a:rPr lang="th-TH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ดำเนินการตามมติ/ข้อสั่งการครบถ้วนแล้ว</a:t>
            </a:r>
          </a:p>
          <a:p>
            <a:r>
              <a:rPr lang="th-TH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อยู่ระหว่างเสนอระดับ</a:t>
            </a:r>
            <a:r>
              <a:rPr lang="en-US" sz="1100" b="1" dirty="0" err="1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ถัดไป</a:t>
            </a:r>
            <a:r>
              <a:rPr lang="en-US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 : </a:t>
            </a:r>
            <a:r>
              <a:rPr lang="th-TH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ดำเนินการในส่วนที่เกี่ยวข้องแล้วและอยู่ระหว่าง</a:t>
            </a:r>
            <a:r>
              <a:rPr lang="en-US" sz="1100" dirty="0" err="1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เตรียมเสนอ</a:t>
            </a:r>
            <a:r>
              <a:rPr lang="en-US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/</a:t>
            </a:r>
            <a:r>
              <a:rPr lang="en-US" sz="1100" dirty="0" err="1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ส่งต่อ</a:t>
            </a:r>
            <a:r>
              <a:rPr lang="th-TH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ไปยัง</a:t>
            </a:r>
            <a:r>
              <a:rPr lang="en-US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 </a:t>
            </a:r>
            <a:r>
              <a:rPr lang="th-TH" sz="1100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คณะอนุกรรมการ/คณะกรรมการ/ครม.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ต้องเร่งรัดติดตาม </a:t>
            </a:r>
            <a:r>
              <a:rPr lang="en-US" sz="1100" b="1" dirty="0">
                <a:solidFill>
                  <a:srgbClr val="0A2C58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:</a:t>
            </a:r>
            <a:r>
              <a:rPr lang="th-TH" sz="1100" dirty="0">
                <a:solidFill>
                  <a:srgbClr val="00206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ยังไม่ได้ดำเนินการตามมติ หรือดำเนินการแล้วบางส่วน แต่ยังไม่มีความคืบหน้าเพิ่มเติมและจำเป็นต้องติดตามต่อไป</a:t>
            </a:r>
            <a:endParaRPr lang="en-US" sz="1100" b="1" dirty="0">
              <a:solidFill>
                <a:srgbClr val="00206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161">
            <a:extLst>
              <a:ext uri="{FF2B5EF4-FFF2-40B4-BE49-F238E27FC236}">
                <a16:creationId xmlns:a16="http://schemas.microsoft.com/office/drawing/2014/main" id="{4C371930-F482-0031-9B23-8862B656CEE3}"/>
              </a:ext>
            </a:extLst>
          </p:cNvPr>
          <p:cNvSpPr/>
          <p:nvPr/>
        </p:nvSpPr>
        <p:spPr>
          <a:xfrm>
            <a:off x="10136307" y="3490479"/>
            <a:ext cx="661980" cy="2371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71 </a:t>
            </a:r>
            <a:r>
              <a:rPr lang="th-TH" sz="1400" b="1" dirty="0">
                <a:solidFill>
                  <a:schemeClr val="accent1">
                    <a:lumMod val="50000"/>
                  </a:schemeClr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เรื่อง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6" name="Text 3">
            <a:extLst>
              <a:ext uri="{FF2B5EF4-FFF2-40B4-BE49-F238E27FC236}">
                <a16:creationId xmlns:a16="http://schemas.microsoft.com/office/drawing/2014/main" id="{BAC84A8D-7D05-5C3D-D8E2-87EB68D393F3}"/>
              </a:ext>
            </a:extLst>
          </p:cNvPr>
          <p:cNvSpPr/>
          <p:nvPr/>
        </p:nvSpPr>
        <p:spPr>
          <a:xfrm>
            <a:off x="789167" y="700169"/>
            <a:ext cx="7315200" cy="33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ข้อมูลสรุปจากการวิเคราะห์วาระการประชุมและกลไกที่เกี่ยวข้อง ปีงบประมาณ พ.ศ. 2567 – 2568  </a:t>
            </a:r>
            <a:endParaRPr lang="en-US" sz="1260" dirty="0"/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467FD73B-79A1-85A9-A0D0-4C27CD3571A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028" t="14370" r="76489" b="77164"/>
          <a:stretch/>
        </p:blipFill>
        <p:spPr>
          <a:xfrm>
            <a:off x="683337" y="1414982"/>
            <a:ext cx="437196" cy="464656"/>
          </a:xfrm>
          <a:prstGeom prst="rect">
            <a:avLst/>
          </a:prstGeom>
        </p:spPr>
      </p:pic>
      <p:pic>
        <p:nvPicPr>
          <p:cNvPr id="117" name="รูปภาพ 116">
            <a:extLst>
              <a:ext uri="{FF2B5EF4-FFF2-40B4-BE49-F238E27FC236}">
                <a16:creationId xmlns:a16="http://schemas.microsoft.com/office/drawing/2014/main" id="{AEAC4D33-FBFA-CD38-BE77-A0DE45909A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112" t="14428" r="58464" b="76938"/>
          <a:stretch/>
        </p:blipFill>
        <p:spPr>
          <a:xfrm>
            <a:off x="3029214" y="1368101"/>
            <a:ext cx="524259" cy="575826"/>
          </a:xfrm>
          <a:prstGeom prst="rect">
            <a:avLst/>
          </a:prstGeom>
        </p:spPr>
      </p:pic>
      <p:pic>
        <p:nvPicPr>
          <p:cNvPr id="118" name="รูปภาพ 117">
            <a:extLst>
              <a:ext uri="{FF2B5EF4-FFF2-40B4-BE49-F238E27FC236}">
                <a16:creationId xmlns:a16="http://schemas.microsoft.com/office/drawing/2014/main" id="{033A8DC0-DC08-752C-6FE2-877D2CB6CB4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264" t="14428" r="41033" b="76720"/>
          <a:stretch/>
        </p:blipFill>
        <p:spPr>
          <a:xfrm>
            <a:off x="5350801" y="1373838"/>
            <a:ext cx="484826" cy="513600"/>
          </a:xfrm>
          <a:prstGeom prst="rect">
            <a:avLst/>
          </a:prstGeom>
        </p:spPr>
      </p:pic>
      <p:pic>
        <p:nvPicPr>
          <p:cNvPr id="119" name="รูปภาพ 118">
            <a:extLst>
              <a:ext uri="{FF2B5EF4-FFF2-40B4-BE49-F238E27FC236}">
                <a16:creationId xmlns:a16="http://schemas.microsoft.com/office/drawing/2014/main" id="{3996B8DA-4CB0-3CE3-7556-A535E36519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9866" t="14428" r="25315" b="76607"/>
          <a:stretch/>
        </p:blipFill>
        <p:spPr>
          <a:xfrm>
            <a:off x="7557419" y="1387858"/>
            <a:ext cx="573247" cy="600248"/>
          </a:xfrm>
          <a:prstGeom prst="rect">
            <a:avLst/>
          </a:prstGeom>
        </p:spPr>
      </p:pic>
      <p:sp>
        <p:nvSpPr>
          <p:cNvPr id="120" name="Shape 51">
            <a:extLst>
              <a:ext uri="{FF2B5EF4-FFF2-40B4-BE49-F238E27FC236}">
                <a16:creationId xmlns:a16="http://schemas.microsoft.com/office/drawing/2014/main" id="{B6014B62-0B6B-DD9E-B218-07BB6D67CB89}"/>
              </a:ext>
            </a:extLst>
          </p:cNvPr>
          <p:cNvSpPr/>
          <p:nvPr/>
        </p:nvSpPr>
        <p:spPr>
          <a:xfrm>
            <a:off x="9851092" y="1418944"/>
            <a:ext cx="491386" cy="473218"/>
          </a:xfrm>
          <a:prstGeom prst="ellipse">
            <a:avLst/>
          </a:prstGeom>
          <a:solidFill>
            <a:srgbClr val="05235B"/>
          </a:solidFill>
          <a:ln w="12700">
            <a:solidFill>
              <a:srgbClr val="00225F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374FCAD8-2326-FB44-AF25-6169287BC44E}"/>
              </a:ext>
            </a:extLst>
          </p:cNvPr>
          <p:cNvSpPr/>
          <p:nvPr/>
        </p:nvSpPr>
        <p:spPr>
          <a:xfrm>
            <a:off x="9924309" y="1495427"/>
            <a:ext cx="367848" cy="2996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•••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1248" y="6400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โครงสร้างและความเชื่อมโยงของกลไก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484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ภาพรวมการเชื่อมโยงระหว่างกลไกระดับ</a:t>
            </a:r>
            <a:r>
              <a:rPr lang="th-TH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r>
              <a:rPr lang="en-US" sz="126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และระดับชาติ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09728" y="841248"/>
            <a:ext cx="11932920" cy="0"/>
          </a:xfrm>
          <a:prstGeom prst="line">
            <a:avLst/>
          </a:prstGeom>
          <a:noFill/>
          <a:ln w="10160">
            <a:solidFill>
              <a:srgbClr val="A7CBE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201168" y="941832"/>
            <a:ext cx="2212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 22"/>
          <p:cNvSpPr/>
          <p:nvPr/>
        </p:nvSpPr>
        <p:spPr>
          <a:xfrm>
            <a:off x="292608" y="1060704"/>
            <a:ext cx="384048" cy="384048"/>
          </a:xfrm>
          <a:prstGeom prst="ellipse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740664" y="969264"/>
            <a:ext cx="15727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กทช.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1121440"/>
            <a:ext cx="15727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คณะ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" y="1332675"/>
            <a:ext cx="1554480" cy="0"/>
          </a:xfrm>
          <a:prstGeom prst="line">
            <a:avLst/>
          </a:prstGeom>
          <a:noFill/>
          <a:ln w="7620">
            <a:solidFill>
              <a:srgbClr val="D6E3E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749808" y="1435608"/>
            <a:ext cx="15727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พิจารณา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ตัดสินใจ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กำหนดทิศทางระดับประเทศ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42032" y="941832"/>
            <a:ext cx="2212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 29"/>
          <p:cNvSpPr/>
          <p:nvPr/>
        </p:nvSpPr>
        <p:spPr>
          <a:xfrm>
            <a:off x="2633472" y="1060704"/>
            <a:ext cx="384048" cy="384048"/>
          </a:xfrm>
          <a:prstGeom prst="ellipse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2688336" y="1124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90672" y="966160"/>
            <a:ext cx="15727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อนุกรรมการภายใต้ กทช.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90672" y="1122363"/>
            <a:ext cx="15727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 คณะ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090672" y="1315897"/>
            <a:ext cx="1554480" cy="0"/>
          </a:xfrm>
          <a:prstGeom prst="line">
            <a:avLst/>
          </a:prstGeom>
          <a:noFill/>
          <a:ln w="7620">
            <a:solidFill>
              <a:srgbClr val="D6E3E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3090672" y="1418830"/>
            <a:ext cx="15727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กลั่นกรอง บูรณาการ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และเสนอเรื่อง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82896" y="941832"/>
            <a:ext cx="2212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 36"/>
          <p:cNvSpPr/>
          <p:nvPr/>
        </p:nvSpPr>
        <p:spPr>
          <a:xfrm>
            <a:off x="4974336" y="1060704"/>
            <a:ext cx="384048" cy="384048"/>
          </a:xfrm>
          <a:prstGeom prst="ellipse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9" name="Text 37"/>
          <p:cNvSpPr/>
          <p:nvPr/>
        </p:nvSpPr>
        <p:spPr>
          <a:xfrm>
            <a:off x="5029200" y="1124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31536" y="949382"/>
            <a:ext cx="15727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คณะทำงาน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8314" y="1097196"/>
            <a:ext cx="15727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 คณะ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31536" y="1290730"/>
            <a:ext cx="1554480" cy="0"/>
          </a:xfrm>
          <a:prstGeom prst="line">
            <a:avLst/>
          </a:prstGeom>
          <a:noFill/>
          <a:ln w="7620">
            <a:solidFill>
              <a:srgbClr val="D6E3E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1"/>
          <p:cNvSpPr/>
          <p:nvPr/>
        </p:nvSpPr>
        <p:spPr>
          <a:xfrm>
            <a:off x="5153357" y="1399557"/>
            <a:ext cx="1997251" cy="14577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จัดทำข้อมูล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ข้อเสนอทาง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 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วิชาการและสนับสนุนการวิเคราะห์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23760" y="941832"/>
            <a:ext cx="2212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 43"/>
          <p:cNvSpPr/>
          <p:nvPr/>
        </p:nvSpPr>
        <p:spPr>
          <a:xfrm>
            <a:off x="7315200" y="1060704"/>
            <a:ext cx="384048" cy="384048"/>
          </a:xfrm>
          <a:prstGeom prst="ellipse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5"/>
          <p:cNvSpPr/>
          <p:nvPr/>
        </p:nvSpPr>
        <p:spPr>
          <a:xfrm>
            <a:off x="7772400" y="949382"/>
            <a:ext cx="15727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คทจ.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0" y="1113974"/>
            <a:ext cx="15727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 </a:t>
            </a:r>
            <a:r>
              <a:rPr lang="th-TH" sz="1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772400" y="1307508"/>
            <a:ext cx="1554480" cy="0"/>
          </a:xfrm>
          <a:prstGeom prst="line">
            <a:avLst/>
          </a:prstGeom>
          <a:noFill/>
          <a:ln w="7620">
            <a:solidFill>
              <a:srgbClr val="D6E3E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Text 48"/>
          <p:cNvSpPr/>
          <p:nvPr/>
        </p:nvSpPr>
        <p:spPr>
          <a:xfrm>
            <a:off x="7772400" y="1418830"/>
            <a:ext cx="15727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พิจารณาและขับเคลื่อนงาน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ระดับ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564624" y="941832"/>
            <a:ext cx="22128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 50"/>
          <p:cNvSpPr/>
          <p:nvPr/>
        </p:nvSpPr>
        <p:spPr>
          <a:xfrm>
            <a:off x="9656064" y="1060704"/>
            <a:ext cx="384048" cy="384048"/>
          </a:xfrm>
          <a:prstGeom prst="ellipse">
            <a:avLst/>
          </a:prstGeom>
          <a:solidFill>
            <a:srgbClr val="087B8C"/>
          </a:solidFill>
          <a:ln w="1270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3" name="Text 51"/>
          <p:cNvSpPr/>
          <p:nvPr/>
        </p:nvSpPr>
        <p:spPr>
          <a:xfrm>
            <a:off x="9710928" y="1124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👥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113264" y="966160"/>
            <a:ext cx="1572768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อนุกรรมการภายใต้ คทจ.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113264" y="1147530"/>
            <a:ext cx="1572768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51 คณะ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113264" y="1332675"/>
            <a:ext cx="1554480" cy="0"/>
          </a:xfrm>
          <a:prstGeom prst="line">
            <a:avLst/>
          </a:prstGeom>
          <a:noFill/>
          <a:ln w="7620">
            <a:solidFill>
              <a:srgbClr val="D6E3E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7" name="Text 55"/>
          <p:cNvSpPr/>
          <p:nvPr/>
        </p:nvSpPr>
        <p:spPr>
          <a:xfrm>
            <a:off x="10054541" y="1393663"/>
            <a:ext cx="1746504" cy="21484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สนับสนุนการพิจารณา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       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เฉพาะด้านในพื้นที่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01168" y="1874520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087B8C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9" name="Text 57"/>
          <p:cNvSpPr/>
          <p:nvPr/>
        </p:nvSpPr>
        <p:spPr>
          <a:xfrm>
            <a:off x="246888" y="1883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⌖ </a:t>
            </a:r>
            <a:r>
              <a:rPr lang="en-US" sz="1100" b="1" dirty="0" err="1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ระดับ</a:t>
            </a:r>
            <a:r>
              <a:rPr lang="th-TH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01168" y="2130552"/>
            <a:ext cx="4114800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 59"/>
          <p:cNvSpPr/>
          <p:nvPr/>
        </p:nvSpPr>
        <p:spPr>
          <a:xfrm>
            <a:off x="5998464" y="1874520"/>
            <a:ext cx="5943600" cy="256032"/>
          </a:xfrm>
          <a:prstGeom prst="roundRect">
            <a:avLst>
              <a:gd name="adj" fmla="val 17857"/>
            </a:avLst>
          </a:prstGeom>
          <a:solidFill>
            <a:srgbClr val="0A2E6D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2" name="Text 60"/>
          <p:cNvSpPr/>
          <p:nvPr/>
        </p:nvSpPr>
        <p:spPr>
          <a:xfrm>
            <a:off x="6044184" y="188366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⚖ ระดับชาติ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998464" y="2130552"/>
            <a:ext cx="5943600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 62"/>
          <p:cNvSpPr/>
          <p:nvPr/>
        </p:nvSpPr>
        <p:spPr>
          <a:xfrm>
            <a:off x="384048" y="2377440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5" name="Text 63"/>
          <p:cNvSpPr/>
          <p:nvPr/>
        </p:nvSpPr>
        <p:spPr>
          <a:xfrm>
            <a:off x="446463" y="2438384"/>
            <a:ext cx="246888" cy="3931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D5EA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▤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704088" y="2423160"/>
            <a:ext cx="8229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 ปัญหา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หรือข้อเสนอ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จากพื้นที่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55648" y="2377440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Text 67"/>
          <p:cNvSpPr/>
          <p:nvPr/>
        </p:nvSpPr>
        <p:spPr>
          <a:xfrm>
            <a:off x="1874520" y="2423160"/>
            <a:ext cx="93268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คณะอนุกรรมการ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ภายใต้ คทจ.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154680" y="2377440"/>
            <a:ext cx="7772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2" name="Text 70"/>
          <p:cNvSpPr/>
          <p:nvPr/>
        </p:nvSpPr>
        <p:spPr>
          <a:xfrm>
            <a:off x="3474720" y="2423160"/>
            <a:ext cx="4297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คทจ.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554480" y="2642616"/>
            <a:ext cx="201168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 72"/>
          <p:cNvSpPr/>
          <p:nvPr/>
        </p:nvSpPr>
        <p:spPr>
          <a:xfrm>
            <a:off x="2944368" y="2642616"/>
            <a:ext cx="210312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 73"/>
          <p:cNvSpPr/>
          <p:nvPr/>
        </p:nvSpPr>
        <p:spPr>
          <a:xfrm>
            <a:off x="2789298" y="341343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4FAFD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7" name="Text 75"/>
          <p:cNvSpPr/>
          <p:nvPr/>
        </p:nvSpPr>
        <p:spPr>
          <a:xfrm>
            <a:off x="3054096" y="3474720"/>
            <a:ext cx="10698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ดำเนินการได้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ในระดับพื้นที่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538728" y="2907792"/>
            <a:ext cx="0" cy="521208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 77"/>
          <p:cNvSpPr/>
          <p:nvPr/>
        </p:nvSpPr>
        <p:spPr>
          <a:xfrm>
            <a:off x="4553712" y="2286000"/>
            <a:ext cx="1161288" cy="1430448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1" name="Text 79"/>
          <p:cNvSpPr/>
          <p:nvPr/>
        </p:nvSpPr>
        <p:spPr>
          <a:xfrm>
            <a:off x="4608575" y="2681975"/>
            <a:ext cx="109728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7B8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เชื่อมโยงระหว่าง</a:t>
            </a:r>
            <a:endParaRPr lang="en-US" sz="1000" dirty="0"/>
          </a:p>
          <a:p>
            <a:pPr marL="0" indent="0" algn="ctr">
              <a:buNone/>
            </a:pPr>
            <a:r>
              <a:rPr lang="th-TH" sz="1000" b="1" dirty="0">
                <a:solidFill>
                  <a:srgbClr val="087B8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r>
              <a:rPr lang="en-US" sz="1000" b="1" dirty="0" err="1">
                <a:solidFill>
                  <a:srgbClr val="087B8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กับระดับชาติ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645152" y="313182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เกินอำนาจ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เกิดหลาย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ต้องใช้นโยบาย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หรือกฎหมาย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931920" y="2642615"/>
            <a:ext cx="621792" cy="1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 82"/>
          <p:cNvSpPr/>
          <p:nvPr/>
        </p:nvSpPr>
        <p:spPr>
          <a:xfrm flipV="1">
            <a:off x="5715000" y="2679108"/>
            <a:ext cx="475488" cy="7286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 83"/>
          <p:cNvSpPr/>
          <p:nvPr/>
        </p:nvSpPr>
        <p:spPr>
          <a:xfrm>
            <a:off x="6172200" y="2414016"/>
            <a:ext cx="97840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7" name="Text 85"/>
          <p:cNvSpPr/>
          <p:nvPr/>
        </p:nvSpPr>
        <p:spPr>
          <a:xfrm>
            <a:off x="6359652" y="2477843"/>
            <a:ext cx="6309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คณะทำงาน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ระดับชาติ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360920" y="2414016"/>
            <a:ext cx="111556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0" name="Text 88"/>
          <p:cNvSpPr/>
          <p:nvPr/>
        </p:nvSpPr>
        <p:spPr>
          <a:xfrm>
            <a:off x="7429500" y="2468126"/>
            <a:ext cx="97840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คณะอนุกรรมการ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ภายใต้ กทช.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86800" y="2414016"/>
            <a:ext cx="731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3" name="Text 91"/>
          <p:cNvSpPr/>
          <p:nvPr/>
        </p:nvSpPr>
        <p:spPr>
          <a:xfrm>
            <a:off x="8878824" y="2440627"/>
            <a:ext cx="38404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กทช.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646920" y="2414016"/>
            <a:ext cx="88696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6" name="Text 94"/>
          <p:cNvSpPr/>
          <p:nvPr/>
        </p:nvSpPr>
        <p:spPr>
          <a:xfrm>
            <a:off x="9777984" y="2477843"/>
            <a:ext cx="6705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ครม./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หน่วยงานที่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เกี่ยวข้อง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0789920" y="2414016"/>
            <a:ext cx="93268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9" name="Text 97"/>
          <p:cNvSpPr/>
          <p:nvPr/>
        </p:nvSpPr>
        <p:spPr>
          <a:xfrm>
            <a:off x="10875264" y="2459736"/>
            <a:ext cx="8199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นโยบาย มติ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หรือข้อสั่งการ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150608" y="2670048"/>
            <a:ext cx="210312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 99"/>
          <p:cNvSpPr/>
          <p:nvPr/>
        </p:nvSpPr>
        <p:spPr>
          <a:xfrm>
            <a:off x="8476488" y="2670048"/>
            <a:ext cx="210312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 100"/>
          <p:cNvSpPr/>
          <p:nvPr/>
        </p:nvSpPr>
        <p:spPr>
          <a:xfrm>
            <a:off x="9418320" y="2670048"/>
            <a:ext cx="228600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 101"/>
          <p:cNvSpPr/>
          <p:nvPr/>
        </p:nvSpPr>
        <p:spPr>
          <a:xfrm>
            <a:off x="10533888" y="2670048"/>
            <a:ext cx="256032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 102"/>
          <p:cNvSpPr/>
          <p:nvPr/>
        </p:nvSpPr>
        <p:spPr>
          <a:xfrm>
            <a:off x="10716768" y="3200400"/>
            <a:ext cx="1024128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6" name="Text 104"/>
          <p:cNvSpPr/>
          <p:nvPr/>
        </p:nvSpPr>
        <p:spPr>
          <a:xfrm>
            <a:off x="10789920" y="3246120"/>
            <a:ext cx="923544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รับผิดชอบ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ดำเนินการ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1256264" y="2916936"/>
            <a:ext cx="0" cy="283464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11" name="Shape 109"/>
          <p:cNvSpPr/>
          <p:nvPr/>
        </p:nvSpPr>
        <p:spPr>
          <a:xfrm>
            <a:off x="11256264" y="3703320"/>
            <a:ext cx="0" cy="155448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12" name="Shape 110"/>
          <p:cNvSpPr/>
          <p:nvPr/>
        </p:nvSpPr>
        <p:spPr>
          <a:xfrm>
            <a:off x="10716768" y="4160520"/>
            <a:ext cx="0" cy="0"/>
          </a:xfrm>
          <a:prstGeom prst="line">
            <a:avLst/>
          </a:prstGeom>
          <a:noFill/>
          <a:ln w="1397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 105"/>
          <p:cNvSpPr/>
          <p:nvPr/>
        </p:nvSpPr>
        <p:spPr>
          <a:xfrm>
            <a:off x="10620463" y="3858768"/>
            <a:ext cx="1120433" cy="43249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3" name="Text 111"/>
          <p:cNvSpPr/>
          <p:nvPr/>
        </p:nvSpPr>
        <p:spPr>
          <a:xfrm>
            <a:off x="4206618" y="4005072"/>
            <a:ext cx="2468880" cy="28619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ส่งกลับเพื่อการดำเนินการและรายงานผล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01168" y="4571999"/>
            <a:ext cx="2487168" cy="2015231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5" name="Shape 113"/>
          <p:cNvSpPr/>
          <p:nvPr/>
        </p:nvSpPr>
        <p:spPr>
          <a:xfrm>
            <a:off x="201168" y="4571999"/>
            <a:ext cx="2487168" cy="347473"/>
          </a:xfrm>
          <a:prstGeom prst="roundRect">
            <a:avLst>
              <a:gd name="adj" fmla="val 17857"/>
            </a:avLst>
          </a:prstGeom>
          <a:solidFill>
            <a:srgbClr val="087B8C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6" name="Text 114"/>
          <p:cNvSpPr/>
          <p:nvPr/>
        </p:nvSpPr>
        <p:spPr>
          <a:xfrm>
            <a:off x="246888" y="4628769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วาระที่เสนอจาก</a:t>
            </a:r>
            <a:r>
              <a:rPr lang="th-TH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</a:t>
            </a:r>
            <a:r>
              <a:rPr lang="en-US" sz="1200" b="1" dirty="0" err="1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สู่ชาติ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723175" y="5021729"/>
            <a:ext cx="1892808" cy="12098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สถานการณ์และปัญหาในพื้นที่</a:t>
            </a:r>
            <a:endParaRPr lang="en-US" sz="1100" dirty="0">
              <a:latin typeface="+mj-lt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ข้อเสนอที่เกินอำนาจ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100" dirty="0">
              <a:latin typeface="+mj-lt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ประเด็นที่เกิดในหลาย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จังหวัด</a:t>
            </a:r>
            <a:endParaRPr lang="en-US" sz="1100" dirty="0">
              <a:latin typeface="+mj-lt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5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เรื่องที่ต้องปรับนโยบาย</a:t>
            </a:r>
            <a:r>
              <a:rPr lang="en-US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              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กฎหมาย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หรือมาตรการ</a:t>
            </a:r>
            <a:endParaRPr lang="en-US" sz="1100" dirty="0">
              <a:latin typeface="+mj-lt"/>
            </a:endParaRPr>
          </a:p>
        </p:txBody>
      </p:sp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81CB5737-B894-E382-A332-FDB15DE512C5}"/>
              </a:ext>
            </a:extLst>
          </p:cNvPr>
          <p:cNvGrpSpPr/>
          <p:nvPr/>
        </p:nvGrpSpPr>
        <p:grpSpPr>
          <a:xfrm>
            <a:off x="2789298" y="4579886"/>
            <a:ext cx="2445364" cy="2007344"/>
            <a:chOff x="2946400" y="4579886"/>
            <a:chExt cx="2445364" cy="1524000"/>
          </a:xfrm>
        </p:grpSpPr>
        <p:sp>
          <p:nvSpPr>
            <p:cNvPr id="118" name="Shape 116"/>
            <p:cNvSpPr/>
            <p:nvPr/>
          </p:nvSpPr>
          <p:spPr>
            <a:xfrm>
              <a:off x="2946400" y="4579886"/>
              <a:ext cx="2445364" cy="15240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016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9" name="Shape 117"/>
            <p:cNvSpPr/>
            <p:nvPr/>
          </p:nvSpPr>
          <p:spPr>
            <a:xfrm>
              <a:off x="2954789" y="4579886"/>
              <a:ext cx="2436975" cy="257817"/>
            </a:xfrm>
            <a:prstGeom prst="roundRect">
              <a:avLst>
                <a:gd name="adj" fmla="val 17857"/>
              </a:avLst>
            </a:prstGeom>
            <a:solidFill>
              <a:srgbClr val="0A2E6D"/>
            </a:solidFill>
            <a:ln w="1016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0" name="Text 118"/>
            <p:cNvSpPr/>
            <p:nvPr/>
          </p:nvSpPr>
          <p:spPr>
            <a:xfrm>
              <a:off x="2954789" y="4596305"/>
              <a:ext cx="237050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วาระที่เสนอจากระดับชาติสู่พื้นที่</a:t>
              </a:r>
              <a:endParaRPr lang="en-US" sz="1200" dirty="0"/>
            </a:p>
          </p:txBody>
        </p:sp>
        <p:sp>
          <p:nvSpPr>
            <p:cNvPr id="121" name="Text 119"/>
            <p:cNvSpPr/>
            <p:nvPr/>
          </p:nvSpPr>
          <p:spPr>
            <a:xfrm>
              <a:off x="3628854" y="5022447"/>
              <a:ext cx="1622314" cy="6583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นโยบายและแผน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มติและข้อสั่งการ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มาตรการหรือแนวทางปฏิบัติ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การมอบหมายหน่วยงาน</a:t>
              </a:r>
              <a:endParaRPr lang="en-US" sz="1100" dirty="0">
                <a:latin typeface="+mj-lt"/>
              </a:endParaRPr>
            </a:p>
          </p:txBody>
        </p:sp>
      </p:grpSp>
      <p:grpSp>
        <p:nvGrpSpPr>
          <p:cNvPr id="14" name="กลุ่ม 13">
            <a:extLst>
              <a:ext uri="{FF2B5EF4-FFF2-40B4-BE49-F238E27FC236}">
                <a16:creationId xmlns:a16="http://schemas.microsoft.com/office/drawing/2014/main" id="{DB9CBF78-461B-CDD4-3891-7AFAFA54EE26}"/>
              </a:ext>
            </a:extLst>
          </p:cNvPr>
          <p:cNvGrpSpPr/>
          <p:nvPr/>
        </p:nvGrpSpPr>
        <p:grpSpPr>
          <a:xfrm>
            <a:off x="5357786" y="4576267"/>
            <a:ext cx="2545766" cy="2010963"/>
            <a:chOff x="5744093" y="4560438"/>
            <a:chExt cx="2545766" cy="1524000"/>
          </a:xfrm>
        </p:grpSpPr>
        <p:sp>
          <p:nvSpPr>
            <p:cNvPr id="122" name="Shape 120"/>
            <p:cNvSpPr/>
            <p:nvPr/>
          </p:nvSpPr>
          <p:spPr>
            <a:xfrm>
              <a:off x="5744093" y="4560438"/>
              <a:ext cx="2545766" cy="15240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0160">
              <a:solidFill>
                <a:srgbClr val="203864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23" name="Shape 121"/>
            <p:cNvSpPr/>
            <p:nvPr/>
          </p:nvSpPr>
          <p:spPr>
            <a:xfrm>
              <a:off x="5756971" y="4565021"/>
              <a:ext cx="2532888" cy="259792"/>
            </a:xfrm>
            <a:prstGeom prst="roundRect">
              <a:avLst>
                <a:gd name="adj" fmla="val 17857"/>
              </a:avLst>
            </a:prstGeom>
            <a:solidFill>
              <a:srgbClr val="0070C0"/>
            </a:solidFill>
            <a:ln w="10160">
              <a:solidFill>
                <a:srgbClr val="203864"/>
              </a:solidFill>
              <a:prstDash val="solid"/>
            </a:ln>
          </p:spPr>
          <p:txBody>
            <a:bodyPr/>
            <a:lstStyle/>
            <a:p>
              <a:endParaRPr lang="th-TH" dirty="0">
                <a:highlight>
                  <a:srgbClr val="7D4AA8"/>
                </a:highlight>
              </a:endParaRPr>
            </a:p>
          </p:txBody>
        </p:sp>
        <p:sp>
          <p:nvSpPr>
            <p:cNvPr id="124" name="Text 122"/>
            <p:cNvSpPr/>
            <p:nvPr/>
          </p:nvSpPr>
          <p:spPr>
            <a:xfrm>
              <a:off x="5785155" y="4587069"/>
              <a:ext cx="250470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th-TH" sz="12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การติดตามผลและนำกลับมาปรับปรุง</a:t>
              </a:r>
              <a:endParaRPr lang="en-US" sz="1200" dirty="0"/>
            </a:p>
          </p:txBody>
        </p:sp>
        <p:sp>
          <p:nvSpPr>
            <p:cNvPr id="125" name="Text 123"/>
            <p:cNvSpPr/>
            <p:nvPr/>
          </p:nvSpPr>
          <p:spPr>
            <a:xfrm>
              <a:off x="6339051" y="4958372"/>
              <a:ext cx="1934452" cy="6583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ผลการดำเนินงาน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ปัญหาและอุปสรรค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ความก้าวหน้าตามมติ</a:t>
              </a:r>
              <a:endParaRPr lang="en-US" sz="1100" dirty="0">
                <a:latin typeface="+mj-lt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endParaRPr lang="en-US" sz="5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100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Prompt" pitchFamily="34" charset="-120"/>
                </a:rPr>
                <a:t>ประเด็นที่ต้องพิจารณาเพิ่มเติม</a:t>
              </a:r>
              <a:endParaRPr lang="en-US" sz="1100" dirty="0">
                <a:latin typeface="+mj-lt"/>
              </a:endParaRPr>
            </a:p>
          </p:txBody>
        </p:sp>
      </p:grpSp>
      <p:sp>
        <p:nvSpPr>
          <p:cNvPr id="126" name="Shape 124"/>
          <p:cNvSpPr/>
          <p:nvPr/>
        </p:nvSpPr>
        <p:spPr>
          <a:xfrm>
            <a:off x="8065008" y="4572000"/>
            <a:ext cx="3973294" cy="201523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7" name="Shape 125"/>
          <p:cNvSpPr/>
          <p:nvPr/>
        </p:nvSpPr>
        <p:spPr>
          <a:xfrm>
            <a:off x="8065008" y="4572000"/>
            <a:ext cx="3977640" cy="347472"/>
          </a:xfrm>
          <a:prstGeom prst="roundRect">
            <a:avLst>
              <a:gd name="adj" fmla="val 17857"/>
            </a:avLst>
          </a:prstGeom>
          <a:solidFill>
            <a:schemeClr val="accent5">
              <a:lumMod val="50000"/>
            </a:schemeClr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8" name="Text 126"/>
          <p:cNvSpPr/>
          <p:nvPr/>
        </p:nvSpPr>
        <p:spPr>
          <a:xfrm>
            <a:off x="8065008" y="46461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th-TH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ประเด็นที่ยังขาดความชัดเจนระหว่างระดับจังหวัดและระดับชาติ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8629146" y="5022891"/>
            <a:ext cx="3312918" cy="15488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l"/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เกณฑ์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การยกระดับเรื่องจากจังหวัดสู่ระดับชาติ                 ยังไม่ชัดเจนในทางปฏิบัติ </a:t>
            </a:r>
            <a:endParaRPr lang="en-US" sz="1100" dirty="0">
              <a:latin typeface="+mj-lt"/>
            </a:endParaRPr>
          </a:p>
          <a:p>
            <a:pPr algn="l"/>
            <a:endParaRPr lang="th-TH" sz="2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algn="l"/>
            <a:endParaRPr lang="th-TH" sz="3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algn="l"/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ยัง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ติดตามไม่ได้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ชัด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ว่ามติระดับชาติ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ส่งต่อให้พื้นที่               หรือหน่วยงานใดดำเนินการ</a:t>
            </a:r>
            <a:endParaRPr lang="en-US" sz="1100" dirty="0">
              <a:latin typeface="+mj-lt"/>
            </a:endParaRPr>
          </a:p>
          <a:p>
            <a:pPr algn="l"/>
            <a:endParaRPr lang="en-US" sz="5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algn="l"/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การรายงานผล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รายประเด็นจากพื้นที่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กลับเข้าสู่</a:t>
            </a:r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ระดับชาติ           ยังไม่ต่อเนื่อง</a:t>
            </a:r>
            <a:endParaRPr lang="en-US" sz="1100" dirty="0">
              <a:latin typeface="+mj-lt"/>
            </a:endParaRPr>
          </a:p>
          <a:p>
            <a:pPr algn="l"/>
            <a:endParaRPr lang="th-TH" sz="500" dirty="0">
              <a:solidFill>
                <a:srgbClr val="07275B"/>
              </a:solidFill>
              <a:latin typeface="+mj-lt"/>
              <a:ea typeface="Prompt" pitchFamily="34" charset="-122"/>
              <a:cs typeface="Prompt" pitchFamily="34" charset="-120"/>
            </a:endParaRPr>
          </a:p>
          <a:p>
            <a:pPr algn="l"/>
            <a:r>
              <a:rPr lang="th-TH" sz="11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มีผู้ประสานตามกฎหมายแล้ว แต่ขั้นตอนรับเรื่อง ส่งต่อ            และติดตามผล</a:t>
            </a:r>
            <a:r>
              <a:rPr lang="en-US" sz="11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ยังไม่ชัดเจน</a:t>
            </a:r>
            <a:endParaRPr lang="en-US" sz="1100" dirty="0">
              <a:latin typeface="+mj-lt"/>
            </a:endParaRPr>
          </a:p>
        </p:txBody>
      </p:sp>
      <p:pic>
        <p:nvPicPr>
          <p:cNvPr id="130" name="รูปภาพ 129">
            <a:extLst>
              <a:ext uri="{FF2B5EF4-FFF2-40B4-BE49-F238E27FC236}">
                <a16:creationId xmlns:a16="http://schemas.microsoft.com/office/drawing/2014/main" id="{40A94695-2DF3-1B6F-C6B6-6D9E7AB09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08" y="147236"/>
            <a:ext cx="448120" cy="575140"/>
          </a:xfrm>
          <a:prstGeom prst="rect">
            <a:avLst/>
          </a:prstGeom>
        </p:spPr>
      </p:pic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A61DA7A5-250F-D73F-6047-2DE324FC0051}"/>
              </a:ext>
            </a:extLst>
          </p:cNvPr>
          <p:cNvGrpSpPr/>
          <p:nvPr/>
        </p:nvGrpSpPr>
        <p:grpSpPr>
          <a:xfrm>
            <a:off x="2894076" y="3539902"/>
            <a:ext cx="253492" cy="235395"/>
            <a:chOff x="2894076" y="3539902"/>
            <a:chExt cx="253492" cy="235395"/>
          </a:xfrm>
        </p:grpSpPr>
        <p:sp>
          <p:nvSpPr>
            <p:cNvPr id="76" name="Text 74"/>
            <p:cNvSpPr/>
            <p:nvPr/>
          </p:nvSpPr>
          <p:spPr>
            <a:xfrm>
              <a:off x="2894076" y="3566491"/>
              <a:ext cx="24688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87B8C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✓</a:t>
              </a:r>
              <a:endParaRPr lang="en-US" sz="1100" dirty="0"/>
            </a:p>
          </p:txBody>
        </p:sp>
        <p:sp>
          <p:nvSpPr>
            <p:cNvPr id="2" name="แผนผังลำดับงาน: ตัวเชื่อมต่อ 1">
              <a:extLst>
                <a:ext uri="{FF2B5EF4-FFF2-40B4-BE49-F238E27FC236}">
                  <a16:creationId xmlns:a16="http://schemas.microsoft.com/office/drawing/2014/main" id="{BF6856F0-29CC-8967-8882-4E0629FD5F9D}"/>
                </a:ext>
              </a:extLst>
            </p:cNvPr>
            <p:cNvSpPr/>
            <p:nvPr/>
          </p:nvSpPr>
          <p:spPr>
            <a:xfrm>
              <a:off x="2900680" y="3539902"/>
              <a:ext cx="246888" cy="235395"/>
            </a:xfrm>
            <a:prstGeom prst="flowChartConnector">
              <a:avLst/>
            </a:prstGeom>
            <a:noFill/>
            <a:ln>
              <a:solidFill>
                <a:srgbClr val="3895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cxnSp>
        <p:nvCxnSpPr>
          <p:cNvPr id="8" name="ตัวเชื่อมต่อ: หักมุม 7">
            <a:extLst>
              <a:ext uri="{FF2B5EF4-FFF2-40B4-BE49-F238E27FC236}">
                <a16:creationId xmlns:a16="http://schemas.microsoft.com/office/drawing/2014/main" id="{B44BB342-E456-7D41-44FC-4EE01E5C3E44}"/>
              </a:ext>
            </a:extLst>
          </p:cNvPr>
          <p:cNvCxnSpPr>
            <a:cxnSpLocks/>
          </p:cNvCxnSpPr>
          <p:nvPr/>
        </p:nvCxnSpPr>
        <p:spPr>
          <a:xfrm rot="10800000">
            <a:off x="3510658" y="3916359"/>
            <a:ext cx="685422" cy="231809"/>
          </a:xfrm>
          <a:prstGeom prst="bentConnector2">
            <a:avLst/>
          </a:prstGeom>
          <a:ln w="127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122">
            <a:extLst>
              <a:ext uri="{FF2B5EF4-FFF2-40B4-BE49-F238E27FC236}">
                <a16:creationId xmlns:a16="http://schemas.microsoft.com/office/drawing/2014/main" id="{B2F8271C-8A95-41DD-FB2F-2035D96631DC}"/>
              </a:ext>
            </a:extLst>
          </p:cNvPr>
          <p:cNvSpPr/>
          <p:nvPr/>
        </p:nvSpPr>
        <p:spPr>
          <a:xfrm>
            <a:off x="8388379" y="5340637"/>
            <a:ext cx="146010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Prompt" pitchFamily="34" charset="0"/>
                <a:cs typeface="Prompt" pitchFamily="34" charset="-120"/>
              </a:rPr>
              <a:t>2</a:t>
            </a:r>
            <a:endParaRPr lang="en-US" sz="600" dirty="0"/>
          </a:p>
        </p:txBody>
      </p:sp>
      <p:sp>
        <p:nvSpPr>
          <p:cNvPr id="20" name="Text 122">
            <a:extLst>
              <a:ext uri="{FF2B5EF4-FFF2-40B4-BE49-F238E27FC236}">
                <a16:creationId xmlns:a16="http://schemas.microsoft.com/office/drawing/2014/main" id="{38BB4B3D-58C6-7AAA-DFBC-0E7B5EA99AFA}"/>
              </a:ext>
            </a:extLst>
          </p:cNvPr>
          <p:cNvSpPr/>
          <p:nvPr/>
        </p:nvSpPr>
        <p:spPr>
          <a:xfrm>
            <a:off x="8398488" y="5565481"/>
            <a:ext cx="146010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Prompt" pitchFamily="34" charset="0"/>
                <a:cs typeface="Prompt" pitchFamily="34" charset="-120"/>
              </a:rPr>
              <a:t>3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10680948" y="3904488"/>
            <a:ext cx="10325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รายงานผล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กลับเข้าสู่กลไก</a:t>
            </a:r>
            <a:endParaRPr lang="en-US" sz="1000" dirty="0"/>
          </a:p>
        </p:txBody>
      </p:sp>
      <p:cxnSp>
        <p:nvCxnSpPr>
          <p:cNvPr id="7" name="ตัวเชื่อมต่อตรง 6">
            <a:extLst>
              <a:ext uri="{FF2B5EF4-FFF2-40B4-BE49-F238E27FC236}">
                <a16:creationId xmlns:a16="http://schemas.microsoft.com/office/drawing/2014/main" id="{211CFBD3-EFA9-DAA3-1622-A4810BFF85C9}"/>
              </a:ext>
            </a:extLst>
          </p:cNvPr>
          <p:cNvCxnSpPr>
            <a:endCxn id="107" idx="1"/>
          </p:cNvCxnSpPr>
          <p:nvPr/>
        </p:nvCxnSpPr>
        <p:spPr>
          <a:xfrm>
            <a:off x="6675498" y="4148169"/>
            <a:ext cx="3944965" cy="0"/>
          </a:xfrm>
          <a:prstGeom prst="line">
            <a:avLst/>
          </a:prstGeom>
          <a:ln w="12700"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E4E23E12-DDFF-ABF6-E881-2989E4A17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574" y="985536"/>
            <a:ext cx="542279" cy="542279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B2918115-65CD-D780-CF0E-D1A12ECE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07" y="948346"/>
            <a:ext cx="528934" cy="528934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856C1240-DB23-DF31-0B14-99143C83C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4380" y="987349"/>
            <a:ext cx="542279" cy="542279"/>
          </a:xfrm>
          <a:prstGeom prst="rect">
            <a:avLst/>
          </a:prstGeom>
        </p:spPr>
      </p:pic>
      <p:pic>
        <p:nvPicPr>
          <p:cNvPr id="71" name="รูปภาพ 70">
            <a:extLst>
              <a:ext uri="{FF2B5EF4-FFF2-40B4-BE49-F238E27FC236}">
                <a16:creationId xmlns:a16="http://schemas.microsoft.com/office/drawing/2014/main" id="{90A0CFD8-94A6-18FB-CCA0-A059143ED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261005" y="997580"/>
            <a:ext cx="575483" cy="575483"/>
          </a:xfrm>
          <a:prstGeom prst="rect">
            <a:avLst/>
          </a:prstGeom>
        </p:spPr>
      </p:pic>
      <p:pic>
        <p:nvPicPr>
          <p:cNvPr id="132" name="รูปภาพ 131">
            <a:extLst>
              <a:ext uri="{FF2B5EF4-FFF2-40B4-BE49-F238E27FC236}">
                <a16:creationId xmlns:a16="http://schemas.microsoft.com/office/drawing/2014/main" id="{4E979F36-8758-789C-04B4-308E7D98EF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26" t="16710" r="7926" b="17466"/>
          <a:stretch/>
        </p:blipFill>
        <p:spPr>
          <a:xfrm>
            <a:off x="227763" y="5116252"/>
            <a:ext cx="460350" cy="480143"/>
          </a:xfrm>
          <a:prstGeom prst="rect">
            <a:avLst/>
          </a:prstGeom>
        </p:spPr>
      </p:pic>
      <p:pic>
        <p:nvPicPr>
          <p:cNvPr id="133" name="รูปภาพ 132">
            <a:extLst>
              <a:ext uri="{FF2B5EF4-FFF2-40B4-BE49-F238E27FC236}">
                <a16:creationId xmlns:a16="http://schemas.microsoft.com/office/drawing/2014/main" id="{D156FD23-E2B3-5E89-5F1E-E9DF2E98C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221541" y="2481966"/>
            <a:ext cx="306030" cy="306030"/>
          </a:xfrm>
          <a:prstGeom prst="rect">
            <a:avLst/>
          </a:prstGeom>
        </p:spPr>
      </p:pic>
      <p:pic>
        <p:nvPicPr>
          <p:cNvPr id="135" name="รูปภาพ 134">
            <a:extLst>
              <a:ext uri="{FF2B5EF4-FFF2-40B4-BE49-F238E27FC236}">
                <a16:creationId xmlns:a16="http://schemas.microsoft.com/office/drawing/2014/main" id="{F8DBA3E1-E51D-DDB2-E770-EA596864A6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837" t="12267" r="75311" b="66724"/>
          <a:stretch/>
        </p:blipFill>
        <p:spPr>
          <a:xfrm>
            <a:off x="4974336" y="2327032"/>
            <a:ext cx="316145" cy="318520"/>
          </a:xfrm>
          <a:prstGeom prst="rect">
            <a:avLst/>
          </a:prstGeom>
        </p:spPr>
      </p:pic>
      <p:pic>
        <p:nvPicPr>
          <p:cNvPr id="137" name="รูปภาพ 136">
            <a:extLst>
              <a:ext uri="{FF2B5EF4-FFF2-40B4-BE49-F238E27FC236}">
                <a16:creationId xmlns:a16="http://schemas.microsoft.com/office/drawing/2014/main" id="{FF20896B-467A-5EC2-6183-60FCBA580EC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196" t="36667" r="74631" b="42267"/>
          <a:stretch/>
        </p:blipFill>
        <p:spPr>
          <a:xfrm>
            <a:off x="2944368" y="5082342"/>
            <a:ext cx="480666" cy="478271"/>
          </a:xfrm>
          <a:prstGeom prst="rect">
            <a:avLst/>
          </a:prstGeom>
        </p:spPr>
      </p:pic>
      <p:pic>
        <p:nvPicPr>
          <p:cNvPr id="139" name="รูปภาพ 138">
            <a:extLst>
              <a:ext uri="{FF2B5EF4-FFF2-40B4-BE49-F238E27FC236}">
                <a16:creationId xmlns:a16="http://schemas.microsoft.com/office/drawing/2014/main" id="{369AF9C5-4F62-6F17-5130-6A359124680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12" t="61780" r="75365" b="16422"/>
          <a:stretch/>
        </p:blipFill>
        <p:spPr>
          <a:xfrm>
            <a:off x="5408170" y="5082342"/>
            <a:ext cx="464319" cy="495562"/>
          </a:xfrm>
          <a:prstGeom prst="rect">
            <a:avLst/>
          </a:prstGeom>
        </p:spPr>
      </p:pic>
      <p:sp>
        <p:nvSpPr>
          <p:cNvPr id="6" name="Shape 178">
            <a:extLst>
              <a:ext uri="{FF2B5EF4-FFF2-40B4-BE49-F238E27FC236}">
                <a16:creationId xmlns:a16="http://schemas.microsoft.com/office/drawing/2014/main" id="{42C71779-4C11-1811-5E44-884A3790067D}"/>
              </a:ext>
            </a:extLst>
          </p:cNvPr>
          <p:cNvSpPr/>
          <p:nvPr/>
        </p:nvSpPr>
        <p:spPr>
          <a:xfrm>
            <a:off x="8165012" y="4971269"/>
            <a:ext cx="336934" cy="338328"/>
          </a:xfrm>
          <a:prstGeom prst="ellipse">
            <a:avLst/>
          </a:prstGeom>
          <a:solidFill>
            <a:srgbClr val="203864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179">
            <a:extLst>
              <a:ext uri="{FF2B5EF4-FFF2-40B4-BE49-F238E27FC236}">
                <a16:creationId xmlns:a16="http://schemas.microsoft.com/office/drawing/2014/main" id="{D9A93AC0-E782-93E8-255D-B4877DF577BD}"/>
              </a:ext>
            </a:extLst>
          </p:cNvPr>
          <p:cNvSpPr/>
          <p:nvPr/>
        </p:nvSpPr>
        <p:spPr>
          <a:xfrm>
            <a:off x="8280106" y="5082342"/>
            <a:ext cx="11838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181">
            <a:extLst>
              <a:ext uri="{FF2B5EF4-FFF2-40B4-BE49-F238E27FC236}">
                <a16:creationId xmlns:a16="http://schemas.microsoft.com/office/drawing/2014/main" id="{F1720F82-1A39-6817-E98E-6C3F664F08CB}"/>
              </a:ext>
            </a:extLst>
          </p:cNvPr>
          <p:cNvSpPr/>
          <p:nvPr/>
        </p:nvSpPr>
        <p:spPr>
          <a:xfrm>
            <a:off x="8156319" y="5420914"/>
            <a:ext cx="336934" cy="292608"/>
          </a:xfrm>
          <a:prstGeom prst="ellipse">
            <a:avLst/>
          </a:prstGeom>
          <a:solidFill>
            <a:srgbClr val="203864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8" name="Text 182">
            <a:extLst>
              <a:ext uri="{FF2B5EF4-FFF2-40B4-BE49-F238E27FC236}">
                <a16:creationId xmlns:a16="http://schemas.microsoft.com/office/drawing/2014/main" id="{FEACE2C1-AA41-1200-7ADF-B831C3313EE9}"/>
              </a:ext>
            </a:extLst>
          </p:cNvPr>
          <p:cNvSpPr/>
          <p:nvPr/>
        </p:nvSpPr>
        <p:spPr>
          <a:xfrm>
            <a:off x="8265595" y="5507782"/>
            <a:ext cx="11838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Shape 184">
            <a:extLst>
              <a:ext uri="{FF2B5EF4-FFF2-40B4-BE49-F238E27FC236}">
                <a16:creationId xmlns:a16="http://schemas.microsoft.com/office/drawing/2014/main" id="{2A219309-8E89-8C2C-3841-2B4561DEF42D}"/>
              </a:ext>
            </a:extLst>
          </p:cNvPr>
          <p:cNvSpPr/>
          <p:nvPr/>
        </p:nvSpPr>
        <p:spPr>
          <a:xfrm>
            <a:off x="8186206" y="5785793"/>
            <a:ext cx="318722" cy="310896"/>
          </a:xfrm>
          <a:prstGeom prst="ellipse">
            <a:avLst/>
          </a:prstGeom>
          <a:solidFill>
            <a:srgbClr val="203864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6" name="Text 185">
            <a:extLst>
              <a:ext uri="{FF2B5EF4-FFF2-40B4-BE49-F238E27FC236}">
                <a16:creationId xmlns:a16="http://schemas.microsoft.com/office/drawing/2014/main" id="{2D692BBE-8583-132E-54D9-36D62C0394A4}"/>
              </a:ext>
            </a:extLst>
          </p:cNvPr>
          <p:cNvSpPr/>
          <p:nvPr/>
        </p:nvSpPr>
        <p:spPr>
          <a:xfrm>
            <a:off x="8291498" y="5886377"/>
            <a:ext cx="11838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Shape 184">
            <a:extLst>
              <a:ext uri="{FF2B5EF4-FFF2-40B4-BE49-F238E27FC236}">
                <a16:creationId xmlns:a16="http://schemas.microsoft.com/office/drawing/2014/main" id="{6E0DF239-AC19-542B-980B-39F82141FF43}"/>
              </a:ext>
            </a:extLst>
          </p:cNvPr>
          <p:cNvSpPr/>
          <p:nvPr/>
        </p:nvSpPr>
        <p:spPr>
          <a:xfrm>
            <a:off x="8186206" y="6203373"/>
            <a:ext cx="318722" cy="310896"/>
          </a:xfrm>
          <a:prstGeom prst="ellipse">
            <a:avLst/>
          </a:prstGeom>
          <a:solidFill>
            <a:srgbClr val="203864"/>
          </a:solidFill>
          <a:ln w="1270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2" name="Text 185">
            <a:extLst>
              <a:ext uri="{FF2B5EF4-FFF2-40B4-BE49-F238E27FC236}">
                <a16:creationId xmlns:a16="http://schemas.microsoft.com/office/drawing/2014/main" id="{8E250B2F-06CB-619F-503D-B3FAB75575CC}"/>
              </a:ext>
            </a:extLst>
          </p:cNvPr>
          <p:cNvSpPr/>
          <p:nvPr/>
        </p:nvSpPr>
        <p:spPr>
          <a:xfrm>
            <a:off x="8280106" y="6303957"/>
            <a:ext cx="11838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F7086D5D-6F97-B83C-4CA8-A4F609B9474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637" t="14667" r="91728" b="76916"/>
          <a:stretch/>
        </p:blipFill>
        <p:spPr>
          <a:xfrm>
            <a:off x="303680" y="1060704"/>
            <a:ext cx="468354" cy="478726"/>
          </a:xfrm>
          <a:prstGeom prst="rect">
            <a:avLst/>
          </a:prstGeom>
          <a:solidFill>
            <a:srgbClr val="05235B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1248" y="161049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2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กลไกการขับเคลื่อนและสถานะการดำเนินงาน</a:t>
            </a:r>
            <a:r>
              <a:rPr lang="en-US" sz="2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7 </a:t>
            </a:r>
            <a:r>
              <a:rPr lang="en-US" sz="2500" b="1" dirty="0" err="1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กลุ่มวาระ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53225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สรุปขั้นตอน</a:t>
            </a:r>
            <a:r>
              <a:rPr lang="en-US" sz="126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การดำเนินงาน</a:t>
            </a:r>
            <a:r>
              <a:rPr lang="en-US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r>
              <a:rPr lang="th-TH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แยกตาม</a:t>
            </a:r>
            <a:r>
              <a:rPr lang="en-US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7 กลุ่มวาระ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09728" y="888873"/>
            <a:ext cx="11932920" cy="0"/>
          </a:xfrm>
          <a:prstGeom prst="line">
            <a:avLst/>
          </a:prstGeom>
          <a:noFill/>
          <a:ln w="10160">
            <a:solidFill>
              <a:srgbClr val="A7CBE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 23"/>
          <p:cNvSpPr/>
          <p:nvPr/>
        </p:nvSpPr>
        <p:spPr>
          <a:xfrm>
            <a:off x="137160" y="1004924"/>
            <a:ext cx="2732532" cy="231497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กลุ่ม 1">
            <a:extLst>
              <a:ext uri="{FF2B5EF4-FFF2-40B4-BE49-F238E27FC236}">
                <a16:creationId xmlns:a16="http://schemas.microsoft.com/office/drawing/2014/main" id="{5E206284-7F02-E27F-82A2-AF80A1DD8B0A}"/>
              </a:ext>
            </a:extLst>
          </p:cNvPr>
          <p:cNvGrpSpPr/>
          <p:nvPr/>
        </p:nvGrpSpPr>
        <p:grpSpPr>
          <a:xfrm>
            <a:off x="227076" y="1106516"/>
            <a:ext cx="228600" cy="228600"/>
            <a:chOff x="219456" y="1453896"/>
            <a:chExt cx="228600" cy="228600"/>
          </a:xfrm>
        </p:grpSpPr>
        <p:sp>
          <p:nvSpPr>
            <p:cNvPr id="26" name="Shape 24"/>
            <p:cNvSpPr/>
            <p:nvPr/>
          </p:nvSpPr>
          <p:spPr>
            <a:xfrm>
              <a:off x="219456" y="1453896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27" name="Text 25"/>
            <p:cNvSpPr/>
            <p:nvPr/>
          </p:nvSpPr>
          <p:spPr>
            <a:xfrm>
              <a:off x="274320" y="1531620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1</a:t>
              </a:r>
              <a:endParaRPr lang="en-US" sz="100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530352" y="1072814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รายงานสถานการณ</a:t>
            </a:r>
            <a:r>
              <a:rPr lang="th-TH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์ฯ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0792" y="1542326"/>
            <a:ext cx="2596896" cy="644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คณะอนุกรรมการ</a:t>
            </a:r>
            <a:r>
              <a:rPr lang="th-TH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จังหวัด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(ถ้ามี) → </a:t>
            </a:r>
            <a:r>
              <a:rPr lang="en-US" sz="10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คทจ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. →</a:t>
            </a:r>
            <a:r>
              <a:rPr lang="en-US" sz="10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คณะอนุกรรมการจัดทำรายงานสถานการณ์ฯ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→ กทช. → </a:t>
            </a:r>
            <a:r>
              <a:rPr lang="en-US" sz="10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ครม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.</a:t>
            </a:r>
            <a:r>
              <a:rPr lang="th-TH" sz="1000" dirty="0"/>
              <a:t> → </a:t>
            </a:r>
            <a:r>
              <a:rPr lang="th-TH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เผยแพร่รายงานและ                   นำข้อมูลไปใช้ประโยชน์</a:t>
            </a:r>
            <a:endParaRPr lang="en-US" sz="1000" dirty="0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0792" y="2449791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187036" y="2486118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ผลของการพิจารณา: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เห็นชอบ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/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ครม.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รับทราบ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" y="2800598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3" name="Text 31"/>
          <p:cNvSpPr/>
          <p:nvPr/>
        </p:nvSpPr>
        <p:spPr>
          <a:xfrm>
            <a:off x="199612" y="297515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เสร็จสิ้น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95761" y="1032588"/>
            <a:ext cx="2871216" cy="2324203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C979AC7-2340-AD07-7D9A-DE039DAF741F}"/>
              </a:ext>
            </a:extLst>
          </p:cNvPr>
          <p:cNvGrpSpPr/>
          <p:nvPr/>
        </p:nvGrpSpPr>
        <p:grpSpPr>
          <a:xfrm>
            <a:off x="3086100" y="1108249"/>
            <a:ext cx="228600" cy="228600"/>
            <a:chOff x="3200400" y="1453896"/>
            <a:chExt cx="228600" cy="228600"/>
          </a:xfrm>
        </p:grpSpPr>
        <p:sp>
          <p:nvSpPr>
            <p:cNvPr id="35" name="Shape 33"/>
            <p:cNvSpPr/>
            <p:nvPr/>
          </p:nvSpPr>
          <p:spPr>
            <a:xfrm>
              <a:off x="3200400" y="1453896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6" name="Text 34"/>
            <p:cNvSpPr/>
            <p:nvPr/>
          </p:nvSpPr>
          <p:spPr>
            <a:xfrm>
              <a:off x="3270377" y="1522476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2</a:t>
              </a:r>
              <a:endParaRPr lang="en-US" sz="10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3360970" y="1070965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นโยบาย แผน </a:t>
            </a: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และแนวทางการบริหารจัดการ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102776" y="1513240"/>
            <a:ext cx="2596896" cy="78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th-TH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คณะทำงานเฉพาะด้าน </a:t>
            </a:r>
            <a:r>
              <a:rPr lang="en-US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→ คณะอนุกรรมการที่เกี่ยวข้อง → </a:t>
            </a:r>
            <a:r>
              <a:rPr lang="en-US" sz="1000" dirty="0" err="1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กทช</a:t>
            </a:r>
            <a:r>
              <a:rPr lang="en-US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.</a:t>
            </a:r>
            <a:r>
              <a:rPr lang="th-TH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 </a:t>
            </a:r>
            <a:r>
              <a:rPr lang="th-TH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(เฉพาะเรื่องที่อยู่ในอำนาจหรือจำเป็นต้องยกระดับเชิงนโยบาย)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→</a:t>
            </a:r>
            <a:endParaRPr lang="en-US" sz="1000" dirty="0">
              <a:latin typeface="+mj-lt"/>
            </a:endParaRPr>
          </a:p>
          <a:p>
            <a:pPr algn="ctr"/>
            <a:r>
              <a:rPr lang="en-US" sz="1000" dirty="0" err="1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ครม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.</a:t>
            </a:r>
            <a:r>
              <a:rPr lang="th-TH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(เฉพาะแผนที่กฎหมายกำหนด)</a:t>
            </a:r>
            <a:r>
              <a:rPr lang="en-US" sz="1000" dirty="0">
                <a:solidFill>
                  <a:srgbClr val="07275B"/>
                </a:solidFill>
                <a:latin typeface="+mj-lt"/>
                <a:ea typeface="Prompt" pitchFamily="34" charset="-122"/>
                <a:cs typeface="Prompt" pitchFamily="34" charset="-120"/>
              </a:rPr>
              <a:t> </a:t>
            </a:r>
            <a:r>
              <a:rPr lang="th-TH" sz="1000" dirty="0">
                <a:latin typeface="+mj-lt"/>
              </a:rPr>
              <a:t>→</a:t>
            </a:r>
            <a:r>
              <a:rPr lang="th-TH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หน่วยงานที่เกี่ยวข้องนำไปขับเคลื่อนตามอำนาจหน้าที่</a:t>
            </a:r>
            <a:endParaRPr lang="en-US" sz="1000" dirty="0">
              <a:latin typeface="+mj-lt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0" y="2442888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Text 38"/>
          <p:cNvSpPr/>
          <p:nvPr/>
        </p:nvSpPr>
        <p:spPr>
          <a:xfrm>
            <a:off x="3200400" y="244288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ผลของการพิจารณา: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เห็นชอบ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89736" y="2831441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2" name="Text 40"/>
          <p:cNvSpPr/>
          <p:nvPr/>
        </p:nvSpPr>
        <p:spPr>
          <a:xfrm>
            <a:off x="3227832" y="295805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สถานะที่พบ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เสร็จสิ้น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75190" y="1030266"/>
            <a:ext cx="2937497" cy="232508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190" name="กลุ่ม 189">
            <a:extLst>
              <a:ext uri="{FF2B5EF4-FFF2-40B4-BE49-F238E27FC236}">
                <a16:creationId xmlns:a16="http://schemas.microsoft.com/office/drawing/2014/main" id="{BB77FEFF-23DA-062F-FDF0-2846952BF3FE}"/>
              </a:ext>
            </a:extLst>
          </p:cNvPr>
          <p:cNvGrpSpPr/>
          <p:nvPr/>
        </p:nvGrpSpPr>
        <p:grpSpPr>
          <a:xfrm>
            <a:off x="6045701" y="1108249"/>
            <a:ext cx="228600" cy="228600"/>
            <a:chOff x="6181344" y="1453896"/>
            <a:chExt cx="228600" cy="228600"/>
          </a:xfrm>
        </p:grpSpPr>
        <p:sp>
          <p:nvSpPr>
            <p:cNvPr id="44" name="Shape 42"/>
            <p:cNvSpPr/>
            <p:nvPr/>
          </p:nvSpPr>
          <p:spPr>
            <a:xfrm>
              <a:off x="6181344" y="1453896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248400" y="1531620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6339840" y="1129238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โครงสร้างกลไก </a:t>
            </a: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การแต่งตั้งและการปร</a:t>
            </a:r>
            <a:r>
              <a:rPr lang="th-TH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ับ</a:t>
            </a:r>
            <a:r>
              <a:rPr lang="en-US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[</a:t>
            </a: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องค์ประกอบ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054165" y="1529106"/>
            <a:ext cx="2791131" cy="76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ฝ่ายเลขานุการ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จัดทำข้อเสนอ </a:t>
            </a:r>
            <a:r>
              <a:rPr lang="th-TH" sz="1000" dirty="0"/>
              <a:t>→ 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คณะทำงาน/คณะอนุกรรมการที่เกี่ยวข้อง/กทช. หรือ คทจ. (พิจารณาเฉพาะกรณีที่อยู่ในอำนาจ)</a:t>
            </a:r>
            <a:r>
              <a:rPr lang="th-TH" sz="1000" dirty="0">
                <a:latin typeface="+mj-lt"/>
              </a:rPr>
              <a:t> → 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ออกคำสั่ง</a:t>
            </a:r>
            <a:r>
              <a:rPr lang="th-TH" sz="1000" dirty="0">
                <a:latin typeface="+mj-lt"/>
              </a:rPr>
              <a:t>→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กลไกดำเนินงานตามอำนาจหน้าที่</a:t>
            </a:r>
            <a:endParaRPr lang="en-US" sz="1000" dirty="0">
              <a:latin typeface="+mj-lt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181344" y="2417921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9" name="Text 47"/>
          <p:cNvSpPr/>
          <p:nvPr/>
        </p:nvSpPr>
        <p:spPr>
          <a:xfrm>
            <a:off x="6248400" y="2517441"/>
            <a:ext cx="2596896" cy="2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ผลของการพิจารณา: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เห็นชอบ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48400" y="2848772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1" name="Text 49"/>
          <p:cNvSpPr/>
          <p:nvPr/>
        </p:nvSpPr>
        <p:spPr>
          <a:xfrm>
            <a:off x="6233078" y="295350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เสร็จสิ้น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51450" y="1032588"/>
            <a:ext cx="2871216" cy="2331877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191" name="กลุ่ม 190">
            <a:extLst>
              <a:ext uri="{FF2B5EF4-FFF2-40B4-BE49-F238E27FC236}">
                <a16:creationId xmlns:a16="http://schemas.microsoft.com/office/drawing/2014/main" id="{90B0D83A-46CE-42D4-41BA-93F035DE4E6C}"/>
              </a:ext>
            </a:extLst>
          </p:cNvPr>
          <p:cNvGrpSpPr/>
          <p:nvPr/>
        </p:nvGrpSpPr>
        <p:grpSpPr>
          <a:xfrm>
            <a:off x="9162288" y="1161242"/>
            <a:ext cx="228600" cy="228600"/>
            <a:chOff x="9162288" y="1453896"/>
            <a:chExt cx="228600" cy="228600"/>
          </a:xfrm>
        </p:grpSpPr>
        <p:sp>
          <p:nvSpPr>
            <p:cNvPr id="53" name="Shape 51"/>
            <p:cNvSpPr/>
            <p:nvPr/>
          </p:nvSpPr>
          <p:spPr>
            <a:xfrm>
              <a:off x="9162288" y="1453896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54" name="Text 52"/>
            <p:cNvSpPr/>
            <p:nvPr/>
          </p:nvSpPr>
          <p:spPr>
            <a:xfrm>
              <a:off x="9221724" y="1536192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4</a:t>
              </a:r>
              <a:endParaRPr lang="en-US" sz="1000" dirty="0"/>
            </a:p>
          </p:txBody>
        </p:sp>
      </p:grpSp>
      <p:sp>
        <p:nvSpPr>
          <p:cNvPr id="55" name="Text 53"/>
          <p:cNvSpPr/>
          <p:nvPr/>
        </p:nvSpPr>
        <p:spPr>
          <a:xfrm>
            <a:off x="9454181" y="111053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การออกกฎหมาย</a:t>
            </a:r>
            <a:r>
              <a:rPr lang="en-US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r>
              <a:rPr lang="th-TH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 18 20 21 22 23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244584" y="1483359"/>
            <a:ext cx="2596896" cy="888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คณะทำงาน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 คณะอนุกรรมการ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ที่เกี่ยวข้อง → กทช. → รับฟังความคิดเห็น/</a:t>
            </a:r>
            <a:endParaRPr lang="en-US" sz="1000" dirty="0"/>
          </a:p>
          <a:p>
            <a:pPr algn="ctr"/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วิเคราะห์ผลกระท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ครม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.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r>
              <a:rPr lang="th-TH" sz="1000" dirty="0"/>
              <a:t>→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ประกาศใน                 ราชกิจจานุเบกษาและบังคับใช้มาตรการ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217152" y="2442888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8" name="Text 56"/>
          <p:cNvSpPr/>
          <p:nvPr/>
        </p:nvSpPr>
        <p:spPr>
          <a:xfrm>
            <a:off x="9217152" y="249415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ผลของการพิจารณา: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เห็นชอบ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244584" y="2830128"/>
            <a:ext cx="2596896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0" name="Text 58"/>
          <p:cNvSpPr/>
          <p:nvPr/>
        </p:nvSpPr>
        <p:spPr>
          <a:xfrm>
            <a:off x="9217152" y="2973575"/>
            <a:ext cx="2871216" cy="21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อยู่ระหว่างรอเสนอระดับถัดไป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/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      </a:t>
            </a:r>
          </a:p>
          <a:p>
            <a:pPr marL="0" indent="0" algn="l">
              <a:buNone/>
            </a:pP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            ต้องเร่งรัดติดตาม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44657" y="3522575"/>
            <a:ext cx="3854761" cy="230157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6" name="กลุ่ม 5">
            <a:extLst>
              <a:ext uri="{FF2B5EF4-FFF2-40B4-BE49-F238E27FC236}">
                <a16:creationId xmlns:a16="http://schemas.microsoft.com/office/drawing/2014/main" id="{A4611522-5BB3-8955-58C6-07BE6DBED3A1}"/>
              </a:ext>
            </a:extLst>
          </p:cNvPr>
          <p:cNvGrpSpPr/>
          <p:nvPr/>
        </p:nvGrpSpPr>
        <p:grpSpPr>
          <a:xfrm>
            <a:off x="182880" y="3618354"/>
            <a:ext cx="228600" cy="228600"/>
            <a:chOff x="219456" y="4009644"/>
            <a:chExt cx="228600" cy="228600"/>
          </a:xfrm>
        </p:grpSpPr>
        <p:sp>
          <p:nvSpPr>
            <p:cNvPr id="62" name="Shape 60"/>
            <p:cNvSpPr/>
            <p:nvPr/>
          </p:nvSpPr>
          <p:spPr>
            <a:xfrm>
              <a:off x="219456" y="4009644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63" name="Text 61"/>
            <p:cNvSpPr/>
            <p:nvPr/>
          </p:nvSpPr>
          <p:spPr>
            <a:xfrm>
              <a:off x="283464" y="4091941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5</a:t>
              </a:r>
              <a:endParaRPr lang="en-US" sz="1000" dirty="0"/>
            </a:p>
          </p:txBody>
        </p:sp>
      </p:grpSp>
      <p:sp>
        <p:nvSpPr>
          <p:cNvPr id="64" name="Text 62"/>
          <p:cNvSpPr/>
          <p:nvPr/>
        </p:nvSpPr>
        <p:spPr>
          <a:xfrm>
            <a:off x="478635" y="3578369"/>
            <a:ext cx="329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</a:t>
            </a:r>
            <a:r>
              <a:rPr lang="th-TH" sz="105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ดำเนินงานตามภารกิจกรม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57776" y="3844365"/>
            <a:ext cx="3831336" cy="74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หน่วยงานหรือคณะทำงาน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เฉพาะด้าน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คณะอนุกรรมการที่เกี่ยวข้อง → คทจ./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กทช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. </a:t>
            </a:r>
            <a:r>
              <a:rPr lang="th-TH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(เฉพาะเรื่องที่อยู่ในอำนาจหรือจำเป็นต้องยกระดับเชิงนโยบาย)</a:t>
            </a:r>
            <a:r>
              <a:rPr lang="en-US" sz="1000" dirty="0">
                <a:solidFill>
                  <a:srgbClr val="07275B"/>
                </a:solidFill>
                <a:ea typeface="Prompt" pitchFamily="34" charset="-122"/>
                <a:cs typeface="Prompt" pitchFamily="34" charset="-120"/>
              </a:rPr>
              <a:t> 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หน่วยงานดำเนินการและติดตาม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5453" y="4709107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7" name="Text 65"/>
          <p:cNvSpPr/>
          <p:nvPr/>
        </p:nvSpPr>
        <p:spPr>
          <a:xfrm>
            <a:off x="157776" y="4820875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ผลของการพิจารณา: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รับทราบ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/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เห็นชอบ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/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มอบหมายให้ดำเนินการ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9456" y="5248324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9" name="Text 67"/>
          <p:cNvSpPr/>
          <p:nvPr/>
        </p:nvSpPr>
        <p:spPr>
          <a:xfrm>
            <a:off x="240792" y="5377156"/>
            <a:ext cx="3773424" cy="32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เสร็จสิ้น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176195" y="3511772"/>
            <a:ext cx="3849624" cy="2224089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CED60076-1327-FA2D-9FEA-16E98BB3CCCD}"/>
              </a:ext>
            </a:extLst>
          </p:cNvPr>
          <p:cNvGrpSpPr/>
          <p:nvPr/>
        </p:nvGrpSpPr>
        <p:grpSpPr>
          <a:xfrm>
            <a:off x="4259584" y="3572269"/>
            <a:ext cx="228600" cy="228600"/>
            <a:chOff x="4229100" y="3931920"/>
            <a:chExt cx="228600" cy="228600"/>
          </a:xfrm>
        </p:grpSpPr>
        <p:sp>
          <p:nvSpPr>
            <p:cNvPr id="71" name="Shape 69"/>
            <p:cNvSpPr/>
            <p:nvPr/>
          </p:nvSpPr>
          <p:spPr>
            <a:xfrm>
              <a:off x="4229100" y="3931920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4293108" y="4004234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6</a:t>
              </a:r>
              <a:endParaRPr lang="en-US" sz="1000" dirty="0"/>
            </a:p>
          </p:txBody>
        </p:sp>
      </p:grpSp>
      <p:sp>
        <p:nvSpPr>
          <p:cNvPr id="73" name="Text 71"/>
          <p:cNvSpPr/>
          <p:nvPr/>
        </p:nvSpPr>
        <p:spPr>
          <a:xfrm>
            <a:off x="4603076" y="3572269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การป้องกันและแก้ไขปัญหาการกัดเซาะชายฝั่ง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4308348" y="3764934"/>
            <a:ext cx="3575304" cy="97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คทจ. →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คณะทำงานกลั่นกรองโครงการ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</a:t>
            </a:r>
            <a:r>
              <a:rPr lang="en-US" sz="1000" dirty="0"/>
              <a:t>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คณะอนุกรรมการ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   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บูรณาการด้านการกัดเซาะชายฝั่ง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</a:t>
            </a:r>
            <a:r>
              <a:rPr lang="th-TH" sz="1000" dirty="0"/>
              <a:t> 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เสนอ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กทช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. 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เพื่อทราบ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            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สำนักงบประมาณ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พิจารณาจัดสรรงบประมาณ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หน่วยงาน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เจ้าของโครงการ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ดำเนิน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การตามที่ได้รับการจัดสรร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228612" y="4692654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6" name="Text 74"/>
          <p:cNvSpPr/>
          <p:nvPr/>
        </p:nvSpPr>
        <p:spPr>
          <a:xfrm>
            <a:off x="4206240" y="4865782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ผลของการพิจารณา:  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ให้ข้อคิดเห็นและ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กลั่นกรองโครงการ</a:t>
            </a: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/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รับทราบ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และ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ให้สำนักงบประมาณ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ประกอบการจัดสรรงบประมาณ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248586" y="5248324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8" name="Text 76"/>
          <p:cNvSpPr/>
          <p:nvPr/>
        </p:nvSpPr>
        <p:spPr>
          <a:xfrm>
            <a:off x="4206240" y="5376481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</a:t>
            </a: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เสร็จสิ้น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9" name="Shape 77"/>
          <p:cNvSpPr/>
          <p:nvPr/>
        </p:nvSpPr>
        <p:spPr>
          <a:xfrm>
            <a:off x="8142218" y="3526799"/>
            <a:ext cx="3807466" cy="219887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3F5D32ED-ECCD-777C-822F-9C0E254ADF9A}"/>
              </a:ext>
            </a:extLst>
          </p:cNvPr>
          <p:cNvGrpSpPr/>
          <p:nvPr/>
        </p:nvGrpSpPr>
        <p:grpSpPr>
          <a:xfrm>
            <a:off x="8240221" y="3610509"/>
            <a:ext cx="228600" cy="228600"/>
            <a:chOff x="8269224" y="4077386"/>
            <a:chExt cx="228600" cy="228600"/>
          </a:xfrm>
        </p:grpSpPr>
        <p:sp>
          <p:nvSpPr>
            <p:cNvPr id="80" name="Shape 78"/>
            <p:cNvSpPr/>
            <p:nvPr/>
          </p:nvSpPr>
          <p:spPr>
            <a:xfrm>
              <a:off x="8269224" y="4077386"/>
              <a:ext cx="228600" cy="228600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81" name="Text 79"/>
            <p:cNvSpPr/>
            <p:nvPr/>
          </p:nvSpPr>
          <p:spPr>
            <a:xfrm>
              <a:off x="8333232" y="4155933"/>
              <a:ext cx="100584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7</a:t>
              </a:r>
              <a:endParaRPr lang="en-US" sz="1000" dirty="0"/>
            </a:p>
          </p:txBody>
        </p:sp>
      </p:grpSp>
      <p:sp>
        <p:nvSpPr>
          <p:cNvPr id="82" name="Text 80"/>
          <p:cNvSpPr/>
          <p:nvPr/>
        </p:nvSpPr>
        <p:spPr>
          <a:xfrm>
            <a:off x="8545575" y="3545259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การมีส่วนร่วมของชุมชนชายฝั่งและภาคีเครือข่าย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266176" y="3846954"/>
            <a:ext cx="3575304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ชุมชน เครือข่าย หรือหน่วยงานในพื้นที่ →</a:t>
            </a:r>
            <a:endParaRPr lang="en-US" sz="1000" dirty="0"/>
          </a:p>
          <a:p>
            <a:pPr algn="ctr"/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หรือคณะอนุกรรมการด้านการมีส่วนร่วม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→ คทจ./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กทช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. (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เฉพาะกรณีที่ต้องยกระดับเชิงนโยบาย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) →                        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ทช</a:t>
            </a:r>
            <a:r>
              <a:rPr lang="en-US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./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ภาคีเครือข่าย</a:t>
            </a:r>
            <a:r>
              <a:rPr lang="th-TH" sz="100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ในพื้นที่ร่วม</a:t>
            </a:r>
            <a:r>
              <a:rPr lang="en-US" sz="100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ดำเนินการ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244078" y="4711569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5" name="Text 83"/>
          <p:cNvSpPr/>
          <p:nvPr/>
        </p:nvSpPr>
        <p:spPr>
          <a:xfrm>
            <a:off x="8320403" y="4830159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✓ ผลของการพิจารณา:  กำหนดแนวทาง ส่งเสริมกลไกชุมชน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หรือมอบหมายให้พัฒนารูปแบบการดำเนินงาน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303514" y="5248324"/>
            <a:ext cx="3575304" cy="0"/>
          </a:xfrm>
          <a:prstGeom prst="line">
            <a:avLst/>
          </a:prstGeom>
          <a:noFill/>
          <a:ln w="7620">
            <a:solidFill>
              <a:srgbClr val="1D5E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7" name="Text 85"/>
          <p:cNvSpPr/>
          <p:nvPr/>
        </p:nvSpPr>
        <p:spPr>
          <a:xfrm>
            <a:off x="8303514" y="5428450"/>
            <a:ext cx="3647694" cy="1256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ⓘ สถานะที่พบ:  </a:t>
            </a:r>
            <a:r>
              <a:rPr lang="th-TH" sz="1000" b="1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ต้องเร่งรัดติดตาม</a:t>
            </a:r>
            <a:endParaRPr lang="en-US" sz="1000" dirty="0"/>
          </a:p>
        </p:txBody>
      </p:sp>
      <p:grpSp>
        <p:nvGrpSpPr>
          <p:cNvPr id="193" name="กลุ่ม 192">
            <a:extLst>
              <a:ext uri="{FF2B5EF4-FFF2-40B4-BE49-F238E27FC236}">
                <a16:creationId xmlns:a16="http://schemas.microsoft.com/office/drawing/2014/main" id="{2A9707AE-ACE8-661F-9A64-3E11501CB4BA}"/>
              </a:ext>
            </a:extLst>
          </p:cNvPr>
          <p:cNvGrpSpPr/>
          <p:nvPr/>
        </p:nvGrpSpPr>
        <p:grpSpPr>
          <a:xfrm>
            <a:off x="145489" y="6015764"/>
            <a:ext cx="11838230" cy="640080"/>
            <a:chOff x="137160" y="5596128"/>
            <a:chExt cx="11887200" cy="640080"/>
          </a:xfrm>
        </p:grpSpPr>
        <p:sp>
          <p:nvSpPr>
            <p:cNvPr id="177" name="Shape 175"/>
            <p:cNvSpPr/>
            <p:nvPr/>
          </p:nvSpPr>
          <p:spPr>
            <a:xfrm>
              <a:off x="137160" y="5596128"/>
              <a:ext cx="11887200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0160">
              <a:solidFill>
                <a:srgbClr val="1D5EA8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78" name="Shape 176"/>
            <p:cNvSpPr/>
            <p:nvPr/>
          </p:nvSpPr>
          <p:spPr>
            <a:xfrm>
              <a:off x="137160" y="5596128"/>
              <a:ext cx="1965960" cy="640080"/>
            </a:xfrm>
            <a:prstGeom prst="roundRect">
              <a:avLst>
                <a:gd name="adj" fmla="val 8571"/>
              </a:avLst>
            </a:prstGeom>
            <a:solidFill>
              <a:srgbClr val="0A2E6D"/>
            </a:solidFill>
            <a:ln w="1016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79" name="Text 177"/>
            <p:cNvSpPr/>
            <p:nvPr/>
          </p:nvSpPr>
          <p:spPr>
            <a:xfrm>
              <a:off x="301752" y="5656706"/>
              <a:ext cx="1554480" cy="5795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ข้อสังเกต</a:t>
              </a:r>
              <a:r>
                <a:rPr lang="th-TH" sz="14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                  จากการขับเคลื่อนวาระ</a:t>
              </a:r>
              <a:endParaRPr lang="en-US" sz="1400" dirty="0"/>
            </a:p>
          </p:txBody>
        </p:sp>
        <p:grpSp>
          <p:nvGrpSpPr>
            <p:cNvPr id="192" name="กลุ่ม 191">
              <a:extLst>
                <a:ext uri="{FF2B5EF4-FFF2-40B4-BE49-F238E27FC236}">
                  <a16:creationId xmlns:a16="http://schemas.microsoft.com/office/drawing/2014/main" id="{904D2BD0-25CC-458A-A9FC-A79E33B5647F}"/>
                </a:ext>
              </a:extLst>
            </p:cNvPr>
            <p:cNvGrpSpPr/>
            <p:nvPr/>
          </p:nvGrpSpPr>
          <p:grpSpPr>
            <a:xfrm>
              <a:off x="2185416" y="5747004"/>
              <a:ext cx="338328" cy="338328"/>
              <a:chOff x="2194560" y="5779008"/>
              <a:chExt cx="338328" cy="338328"/>
            </a:xfrm>
          </p:grpSpPr>
          <p:sp>
            <p:nvSpPr>
              <p:cNvPr id="180" name="Shape 178"/>
              <p:cNvSpPr/>
              <p:nvPr/>
            </p:nvSpPr>
            <p:spPr>
              <a:xfrm>
                <a:off x="2194560" y="5779008"/>
                <a:ext cx="338328" cy="338328"/>
              </a:xfrm>
              <a:prstGeom prst="ellipse">
                <a:avLst/>
              </a:prstGeom>
              <a:solidFill>
                <a:srgbClr val="0A2E6D"/>
              </a:solidFill>
              <a:ln w="12700">
                <a:solidFill>
                  <a:srgbClr val="0A2E6D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181" name="Text 179"/>
              <p:cNvSpPr/>
              <p:nvPr/>
            </p:nvSpPr>
            <p:spPr>
              <a:xfrm>
                <a:off x="2310130" y="5890081"/>
                <a:ext cx="118872" cy="1188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Prompt" pitchFamily="34" charset="0"/>
                    <a:ea typeface="Prompt" pitchFamily="34" charset="-122"/>
                    <a:cs typeface="Prompt" pitchFamily="34" charset="-120"/>
                  </a:rPr>
                  <a:t>1</a:t>
                </a:r>
                <a:endParaRPr lang="en-US" sz="900" dirty="0"/>
              </a:p>
            </p:txBody>
          </p:sp>
        </p:grpSp>
        <p:sp>
          <p:nvSpPr>
            <p:cNvPr id="182" name="Text 180"/>
            <p:cNvSpPr/>
            <p:nvPr/>
          </p:nvSpPr>
          <p:spPr>
            <a:xfrm>
              <a:off x="2606040" y="5670509"/>
              <a:ext cx="2194560" cy="505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th-TH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แต่ละกลุ่มวาระมีขั้นตอนหลักคล้ายกัน           แต่กลไกและระดับการพิจารณาแตกต่างตามประเภทวาระ</a:t>
              </a:r>
              <a:endParaRPr lang="en-US" sz="1000" dirty="0"/>
            </a:p>
          </p:txBody>
        </p:sp>
        <p:sp>
          <p:nvSpPr>
            <p:cNvPr id="183" name="Shape 181"/>
            <p:cNvSpPr/>
            <p:nvPr/>
          </p:nvSpPr>
          <p:spPr>
            <a:xfrm>
              <a:off x="4983480" y="5779008"/>
              <a:ext cx="338328" cy="292608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4" name="Text 182"/>
            <p:cNvSpPr/>
            <p:nvPr/>
          </p:nvSpPr>
          <p:spPr>
            <a:xfrm>
              <a:off x="5093208" y="5865876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85" name="Text 183"/>
            <p:cNvSpPr/>
            <p:nvPr/>
          </p:nvSpPr>
          <p:spPr>
            <a:xfrm>
              <a:off x="5394960" y="5670509"/>
              <a:ext cx="2423160" cy="50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0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วาระที่มี</a:t>
              </a:r>
              <a:r>
                <a:rPr lang="th-TH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กฎหมายกำหนด มี</a:t>
              </a:r>
              <a:r>
                <a:rPr lang="en-US" sz="10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ขั้นตอน</a:t>
              </a:r>
              <a:r>
                <a:rPr lang="en-US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 </a:t>
              </a:r>
              <a:r>
                <a:rPr lang="th-TH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ผู้มีอำนาจ และผลลัพธ์ปลายทางที่</a:t>
              </a:r>
              <a:r>
                <a:rPr lang="en-US" sz="10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ชัดเจนกว่า</a:t>
              </a:r>
              <a:endParaRPr lang="en-US" sz="1000" dirty="0"/>
            </a:p>
          </p:txBody>
        </p:sp>
        <p:sp>
          <p:nvSpPr>
            <p:cNvPr id="186" name="Shape 184"/>
            <p:cNvSpPr/>
            <p:nvPr/>
          </p:nvSpPr>
          <p:spPr>
            <a:xfrm>
              <a:off x="8033194" y="5742432"/>
              <a:ext cx="320040" cy="310896"/>
            </a:xfrm>
            <a:prstGeom prst="ellipse">
              <a:avLst/>
            </a:prstGeom>
            <a:solidFill>
              <a:srgbClr val="0A2E6D"/>
            </a:solidFill>
            <a:ln w="12700">
              <a:solidFill>
                <a:srgbClr val="0A2E6D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87" name="Text 185"/>
            <p:cNvSpPr/>
            <p:nvPr/>
          </p:nvSpPr>
          <p:spPr>
            <a:xfrm>
              <a:off x="8138922" y="5843016"/>
              <a:ext cx="118872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188" name="Text 186"/>
            <p:cNvSpPr/>
            <p:nvPr/>
          </p:nvSpPr>
          <p:spPr>
            <a:xfrm>
              <a:off x="8566404" y="5670509"/>
              <a:ext cx="3239315" cy="50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0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วาระด้านปัญหาทรัพยากรและการมีส่วนร่วม</a:t>
              </a:r>
              <a:r>
                <a:rPr lang="en-US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 </a:t>
              </a:r>
              <a:r>
                <a:rPr lang="th-TH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เป็นกระบวนการต่อเนื่อง</a:t>
              </a:r>
              <a:r>
                <a:rPr lang="en-US" sz="1000" dirty="0" err="1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ต้องติดตาม</a:t>
              </a:r>
              <a:r>
                <a:rPr lang="en-US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 </a:t>
              </a:r>
              <a:r>
                <a:rPr lang="th-TH" sz="1000" dirty="0">
                  <a:solidFill>
                    <a:srgbClr val="07275B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และปรับการดำเนินงานตามสถานการณ์</a:t>
              </a:r>
              <a:endParaRPr lang="en-US" sz="1000" dirty="0"/>
            </a:p>
          </p:txBody>
        </p:sp>
      </p:grpSp>
      <p:pic>
        <p:nvPicPr>
          <p:cNvPr id="189" name="รูปภาพ 188">
            <a:extLst>
              <a:ext uri="{FF2B5EF4-FFF2-40B4-BE49-F238E27FC236}">
                <a16:creationId xmlns:a16="http://schemas.microsoft.com/office/drawing/2014/main" id="{18F5A445-0549-E9E3-C670-C02FD72FF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12" y="165658"/>
            <a:ext cx="448120" cy="5751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82880" y="558818"/>
            <a:ext cx="11795760" cy="0"/>
          </a:xfrm>
          <a:prstGeom prst="line">
            <a:avLst/>
          </a:prstGeom>
          <a:noFill/>
          <a:ln w="12700">
            <a:solidFill>
              <a:srgbClr val="06336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199613" y="642151"/>
            <a:ext cx="1793822" cy="77441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3B21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194189" y="659537"/>
            <a:ext cx="1773378" cy="219456"/>
          </a:xfrm>
          <a:prstGeom prst="rect">
            <a:avLst/>
          </a:prstGeom>
          <a:solidFill>
            <a:srgbClr val="F3B21B"/>
          </a:solidFill>
          <a:ln w="12700">
            <a:solidFill>
              <a:srgbClr val="F3B21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362697" y="971540"/>
            <a:ext cx="347472" cy="347472"/>
          </a:xfrm>
          <a:prstGeom prst="ellipse">
            <a:avLst/>
          </a:prstGeom>
          <a:solidFill>
            <a:srgbClr val="F3B21B"/>
          </a:solidFill>
          <a:ln w="3810">
            <a:solidFill>
              <a:srgbClr val="F3B21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4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⏳</a:t>
            </a:r>
            <a:endParaRPr lang="en-US" sz="1500" dirty="0">
              <a:solidFill>
                <a:srgbClr val="7D4AA8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66765" y="655096"/>
            <a:ext cx="1987011" cy="76984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D4A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2062685" y="682131"/>
            <a:ext cx="1987011" cy="219456"/>
          </a:xfrm>
          <a:prstGeom prst="rect">
            <a:avLst/>
          </a:prstGeom>
          <a:solidFill>
            <a:srgbClr val="7D4AA8"/>
          </a:solidFill>
          <a:ln w="12700">
            <a:solidFill>
              <a:srgbClr val="7D4AA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2267334" y="967801"/>
            <a:ext cx="347472" cy="347472"/>
          </a:xfrm>
          <a:prstGeom prst="ellipse">
            <a:avLst/>
          </a:prstGeom>
          <a:solidFill>
            <a:srgbClr val="7D4AA8"/>
          </a:solidFill>
          <a:ln w="3810">
            <a:solidFill>
              <a:srgbClr val="7D4AA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⇥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68305" y="648526"/>
            <a:ext cx="1987010" cy="76984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4268304" y="648525"/>
            <a:ext cx="1987009" cy="241385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4378033" y="968108"/>
            <a:ext cx="347472" cy="347472"/>
          </a:xfrm>
          <a:prstGeom prst="ellipse">
            <a:avLst/>
          </a:prstGeom>
          <a:solidFill>
            <a:srgbClr val="007C89"/>
          </a:solidFill>
          <a:ln w="3810">
            <a:solidFill>
              <a:srgbClr val="007C8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112" name="Text 109"/>
          <p:cNvSpPr/>
          <p:nvPr/>
        </p:nvSpPr>
        <p:spPr>
          <a:xfrm>
            <a:off x="93749" y="1476367"/>
            <a:ext cx="7656879" cy="287196"/>
          </a:xfrm>
          <a:prstGeom prst="rect">
            <a:avLst/>
          </a:prstGeom>
          <a:solidFill>
            <a:srgbClr val="06336B"/>
          </a:solidFill>
          <a:ln>
            <a:solidFill>
              <a:srgbClr val="06336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12 </a:t>
            </a:r>
            <a:r>
              <a:rPr lang="th-TH" b="1" dirty="0">
                <a:solidFill>
                  <a:srgbClr val="FFFFFF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วาระสำคัญที่ยังต้องขับเคลื่อนต่อ 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771088"/>
              </p:ext>
            </p:extLst>
          </p:nvPr>
        </p:nvGraphicFramePr>
        <p:xfrm>
          <a:off x="93750" y="1730777"/>
          <a:ext cx="7656878" cy="5180311"/>
        </p:xfrm>
        <a:graphic>
          <a:graphicData uri="http://schemas.openxmlformats.org/drawingml/2006/table">
            <a:tbl>
              <a:tblPr/>
              <a:tblGrid>
                <a:gridCol w="28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6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2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ลำดับ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เรื่อง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กลไก/ครั้งล่าสุด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มติ/ข้อสั่งการ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2C58"/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สถานะ</a:t>
                      </a:r>
                      <a:endParaRPr lang="en-US" sz="1000" b="1" dirty="0"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(ร่าง) </a:t>
                      </a: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   กัลปังหา </a:t>
                      </a:r>
                      <a:r>
                        <a:rPr lang="th-TH" sz="1000" b="1" ker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แหล่งหญ้าทะเล </a:t>
                      </a: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สัตว์ทะเลหายากหรือใกล้สูญพันธุ์ สิ่งมีชีวิตในแนวปะการังหรือแหล่งหญ้าทะเล และแหล่งอาศัยหรือหากินของสัตว์ทะเล หายากหรือใกล้สูญพันธุ์ ในพื้นที่ ต.เกาะศรีบอยา อ.เหนือคลอง จ.กระบี่ พ.ศ. .... 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กทช. เห็นชอบ 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5 ก.พ. 2567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bg1"/>
                          </a:solidFill>
                          <a:highlight>
                            <a:srgbClr val="7D4AA8"/>
                          </a:highlight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lang="en-US" sz="1000" b="1" dirty="0">
                        <a:solidFill>
                          <a:schemeClr val="bg1"/>
                        </a:solidFill>
                        <a:highlight>
                          <a:srgbClr val="7D4AA8"/>
                        </a:highlight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850162"/>
                  </a:ext>
                </a:extLst>
              </a:tr>
              <a:tr h="24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2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กัลปังหา สัตว์ทะเลหายากหรือใกล้สูญพันธุ์ หรือสิ่งมีชีวิตในแนวปะการัง ในพื้นที่หมู่เกาะสีชัง อ.เกาะสีชัง จ.ชลบุรี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มิ.ย. 2567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3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กัลปังหา แหล่งหญ้าทะเล สัตว์ทะเลหายากหรือใกล้สูญพันธุ์ สิ่งมีชีวิตในแนวปะการังหรือแหล่งหญ้าทะเล และแหล่งอาศัยหรือหากินของสัตว์ทะเลหายากหรือใกล้สูญพันธุ์ ในพื้นที่ ต.เกาะสาหร่าย อ.เมือง จ.สตูล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มิ.ย. 2567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9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4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กฎกระทรวงฯ กำหนดให้พื้นที่บริเวณแนวปะทะกระแสน้ำไหล่ทวีปทะเลอันดามันของประเทศไทย เป็นพื้นที่คุ้มครองทรัพยากรทางทะเลและชายฝั่ง พ.ศ. .... 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22 พ.ค. 2568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5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กฎกระทรวงฯ กำหนดให้พื้นที่อุทยานการเรียนรู้ใต้ทะเลเขาหลัก ต.คึกคัก อ.</a:t>
                      </a:r>
                      <a:r>
                        <a:rPr lang="th-TH" sz="1000" b="1" kern="0" spc="-3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ตะกั่วป่า จ.พังงา เป็นพื้นที่คุ้มครองทรัพยากรทางทะเลและชายฝั่ง พ.ศ. .... </a:t>
                      </a:r>
                      <a:endParaRPr lang="en-US" sz="1000" b="1" kern="100" spc="-30" baseline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22 พ.ค. 2568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5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6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กฎกระทรวงฯ กำหนดเขตพื้นที่ใช้มาตรการในการป้องกันการกัดเซาะชายฝั่ง พ.ศ. .... (50 ระบบหาด)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22 พ.ค. 2568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เห็นชอบและมอบ ทช. เสนอ ครม. ต่อไป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2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7</a:t>
                      </a: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spc="-3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เรื่องมาตรการคุ้มครองทรัพยากรทางทะเลและชายฝั่ง ในพื้นที่เกาะเหลื่อม ต.เกาะหลัก อ.เมืองประจวบคีรีขันธ์ </a:t>
                      </a:r>
                      <a:br>
                        <a:rPr lang="th-TH" sz="1000" b="1" kern="0" spc="-3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จ.ประจวบคีรีขันธ์ พ.ศ. ....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คอก. ทะเล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ก.ค. 2569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spc="-3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รับทราบและมอบฝ่ายเลขาฯ</a:t>
                      </a: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 ปรับปรุงตามข้อสังเกต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94477"/>
                  </a:ext>
                </a:extLst>
              </a:tr>
              <a:tr h="2171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8</a:t>
                      </a: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ประกาศกระพรวงฯ เรื่อง กำหนดแนวเขตพื้นที่และมาตรการคุ้มครองทรัพยากรทางทะเลแลและชายฝั่ง ประเภทแนวปะการังปะการังเทียม สัตว์ทะเลหายาก สัตว์น้ำ และสิ่งมีชีวิตในบริเวณพื้นที่จัดวางขาแท่นปิโตรเลียม ในพื้นที่จัดวางขาแท่นปิโตรเลียม บริเวณพื้นที่เกาะพะงัน ต.เกาะพะงัน อ.เกาะพะงัน จ.สุราษฎร์ธานี พ.ศ. ....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คอก. ทะเล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ก.ค. 2569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th-TH" sz="1000" b="1" i="0" u="none" strike="noStrike" kern="1200" cap="none" spc="-3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รับทราบและมอบฝ่ายเลขาฯ</a:t>
                      </a:r>
                      <a:r>
                        <a:rPr kumimoji="0" lang="th-TH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 ปรับปรุงตามข้อสังเกต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5842"/>
                  </a:ext>
                </a:extLst>
              </a:tr>
              <a:tr h="243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9</a:t>
                      </a: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กำหนดแนวเขตพื้นที่และมาตรการคุ้มครองทรัพยากรทางทะเลและชายฝั่ง ประเภทแนวปะการัง </a:t>
                      </a:r>
                      <a:b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ชากปะการัง กัลปังหา ปะการังเทียม เต่าทะเล สัตว์ทะเลหายาก สัตว์น้ำ และสิ่งมีชีวิตในบริเวณตามแนวปะการัง ในพื้นที่เกาะเต่า เกาะนางยวน และเกาะกงทรายแดง ต.เกาะเต่า อ.เกาะพะงัน จ.สุราษฎร์ธานี พ.ศ. ....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คอก. ทะเล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ก.ค. 2569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th-TH" sz="10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รับทราบและมอบฝ่ายเลขาฯ</a:t>
                      </a: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 ปรับปรุงตามข้อสังเกต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75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10</a:t>
                      </a: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มาตรการคุ้มครองทรัพยากรทางทะเลและชายฝั่ง ในพื้นที่หมู่เกาะทะลุ เกาะสิงห์ เกาะสังข์ </a:t>
                      </a:r>
                      <a:b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อ.บางสะพานน้อย จ.ประจวบคีรีขันธ์ พ.ศ.... 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คทง. ทะเล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 </a:t>
                      </a: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ส.ค. 2568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ให้ฝ่ายเลขาฯ สรุปประเด็น และจัดทำหนังสือตอบกลับเกี่ยวกับการหารือกับ อส. ถึง </a:t>
                      </a:r>
                      <a:r>
                        <a:rPr lang="th-TH" sz="10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สล</a:t>
                      </a:r>
                      <a: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ค.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highlight>
                            <a:srgbClr val="7D4AA8"/>
                          </a:highlight>
                          <a:uLnTx/>
                          <a:uFillTx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เสนอระดับถัดไป</a:t>
                      </a:r>
                      <a:endParaRPr kumimoji="0" 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highlight>
                          <a:srgbClr val="7D4AA8"/>
                        </a:highlight>
                        <a:uLnTx/>
                        <a:uFillTx/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53033"/>
                  </a:ext>
                </a:extLst>
              </a:tr>
              <a:tr h="1794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11</a:t>
                      </a: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ประกาศกระทรวงทรัพยากรธรรมชาติและสิ่งแวดล้อม เรื่อง มาตรการ คุ้มครองวาฬ บรูด</a:t>
                      </a:r>
                      <a:r>
                        <a:rPr lang="th-TH" sz="1000" b="1" kern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้า</a:t>
                      </a: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จากกิจกรรมท่องเที่ยว พ.ศ. ....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คอก. ทะเล 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10 เม.ย. 2568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เห็นชอบ มอบฝ่ายเลขาฯ 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เสนอกทช. ต่อไป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dirty="0">
                          <a:highlight>
                            <a:srgbClr val="F3B21B"/>
                          </a:highlight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ต้องเร่งรัดติดตาม</a:t>
                      </a:r>
                      <a:endParaRPr lang="en-US" sz="1000" b="1" dirty="0">
                        <a:highlight>
                          <a:srgbClr val="F3B21B"/>
                        </a:highlight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43314"/>
                  </a:ext>
                </a:extLst>
              </a:tr>
              <a:tr h="243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12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</a:t>
                      </a: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แต่งตั้งคณะทำงาน จำนวน 3 ชุด ประกอบด้วย 1) คณะทำงานการพัฒนาคุณภาพชีวิตของชุมชนชายฝั่งมอบหมาย 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2) คณะทำงานขับเคลื่อนการจัดทำแผนชุมชนชายฝั่ง และ 3) คณะทำงานส่งเสริมการทำงานร่วมกับองค์กรปกครองส่วนท้องถิ่น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คอก. ส่งเสริมฯ </a:t>
                      </a:r>
                      <a:b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</a:br>
                      <a: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12 ก.ย. 2567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kern="1200" spc="-30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เห็นชอบและมอบหมายฝ่ายเลขาฯ</a:t>
                      </a:r>
                      <a:r>
                        <a:rPr lang="th-TH" sz="10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ดำเนินการ</a:t>
                      </a: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highlight>
                            <a:srgbClr val="F3B21B"/>
                          </a:highlight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ต้องเร่งรัดติดตาม</a:t>
                      </a:r>
                      <a:endParaRPr lang="en-US" sz="1000" b="1" dirty="0">
                        <a:highlight>
                          <a:srgbClr val="F3B21B"/>
                        </a:highlight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158963"/>
                  </a:ext>
                </a:extLst>
              </a:tr>
            </a:tbl>
          </a:graphicData>
        </a:graphic>
      </p:graphicFrame>
      <p:sp>
        <p:nvSpPr>
          <p:cNvPr id="116" name="Text 112"/>
          <p:cNvSpPr/>
          <p:nvPr/>
        </p:nvSpPr>
        <p:spPr>
          <a:xfrm>
            <a:off x="8023860" y="2694990"/>
            <a:ext cx="3954780" cy="256032"/>
          </a:xfrm>
          <a:prstGeom prst="rect">
            <a:avLst/>
          </a:prstGeom>
          <a:solidFill>
            <a:srgbClr val="06336B"/>
          </a:solidFill>
          <a:ln>
            <a:solidFill>
              <a:srgbClr val="06336B"/>
            </a:solidFill>
          </a:ln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5 </a:t>
            </a:r>
            <a:r>
              <a:rPr lang="th-TH" b="1" dirty="0">
                <a:solidFill>
                  <a:srgbClr val="FFFFFF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rPr>
              <a:t>ประเด็นสำคัญที่ต้องเร่งดำเนินการ 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35" name="รูปภาพ 134">
            <a:extLst>
              <a:ext uri="{FF2B5EF4-FFF2-40B4-BE49-F238E27FC236}">
                <a16:creationId xmlns:a16="http://schemas.microsoft.com/office/drawing/2014/main" id="{77CCCFA8-B7C5-1342-03A4-5AD6FC79C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13" y="92894"/>
            <a:ext cx="326168" cy="438911"/>
          </a:xfrm>
          <a:prstGeom prst="rect">
            <a:avLst/>
          </a:prstGeom>
        </p:spPr>
      </p:pic>
      <p:sp>
        <p:nvSpPr>
          <p:cNvPr id="136" name="Text 2">
            <a:extLst>
              <a:ext uri="{FF2B5EF4-FFF2-40B4-BE49-F238E27FC236}">
                <a16:creationId xmlns:a16="http://schemas.microsoft.com/office/drawing/2014/main" id="{DAFA2527-037E-AFA6-EFCA-F945F85539E8}"/>
              </a:ext>
            </a:extLst>
          </p:cNvPr>
          <p:cNvSpPr/>
          <p:nvPr/>
        </p:nvSpPr>
        <p:spPr>
          <a:xfrm>
            <a:off x="612559" y="111498"/>
            <a:ext cx="98542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th-TH" sz="2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ภาพรวมสถานการณ์ดำเนินงานและวาระที่ต้องขับเคลื่อนต่อ</a:t>
            </a:r>
            <a:endParaRPr lang="en-US" sz="2500" dirty="0"/>
          </a:p>
        </p:txBody>
      </p:sp>
      <p:sp>
        <p:nvSpPr>
          <p:cNvPr id="138" name="กล่องข้อความ 137">
            <a:extLst>
              <a:ext uri="{FF2B5EF4-FFF2-40B4-BE49-F238E27FC236}">
                <a16:creationId xmlns:a16="http://schemas.microsoft.com/office/drawing/2014/main" id="{0F8D2E2B-2586-14EB-10BD-F48AA53396F0}"/>
              </a:ext>
            </a:extLst>
          </p:cNvPr>
          <p:cNvSpPr txBox="1"/>
          <p:nvPr/>
        </p:nvSpPr>
        <p:spPr>
          <a:xfrm>
            <a:off x="311033" y="590459"/>
            <a:ext cx="1656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ต้องเร่งรัดติดตาม</a:t>
            </a:r>
          </a:p>
        </p:txBody>
      </p:sp>
      <p:sp>
        <p:nvSpPr>
          <p:cNvPr id="139" name="กล่องข้อความ 138">
            <a:extLst>
              <a:ext uri="{FF2B5EF4-FFF2-40B4-BE49-F238E27FC236}">
                <a16:creationId xmlns:a16="http://schemas.microsoft.com/office/drawing/2014/main" id="{4A676418-4F5B-0598-556A-0BE8DAAE0567}"/>
              </a:ext>
            </a:extLst>
          </p:cNvPr>
          <p:cNvSpPr txBox="1"/>
          <p:nvPr/>
        </p:nvSpPr>
        <p:spPr>
          <a:xfrm>
            <a:off x="4268305" y="582348"/>
            <a:ext cx="1948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เสร็จสิ้น</a:t>
            </a:r>
          </a:p>
        </p:txBody>
      </p:sp>
      <p:sp>
        <p:nvSpPr>
          <p:cNvPr id="140" name="กล่องข้อความ 139">
            <a:extLst>
              <a:ext uri="{FF2B5EF4-FFF2-40B4-BE49-F238E27FC236}">
                <a16:creationId xmlns:a16="http://schemas.microsoft.com/office/drawing/2014/main" id="{54480176-26C1-6DE2-7DC6-28C2ECB744F6}"/>
              </a:ext>
            </a:extLst>
          </p:cNvPr>
          <p:cNvSpPr txBox="1"/>
          <p:nvPr/>
        </p:nvSpPr>
        <p:spPr>
          <a:xfrm>
            <a:off x="2195140" y="607455"/>
            <a:ext cx="1858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อยู่ระหว่างเสนอระดับถัดไป</a:t>
            </a: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C8C7C5D-0B65-E4C4-3CA6-DE2032F1DC4C}"/>
              </a:ext>
            </a:extLst>
          </p:cNvPr>
          <p:cNvSpPr txBox="1"/>
          <p:nvPr/>
        </p:nvSpPr>
        <p:spPr>
          <a:xfrm>
            <a:off x="951185" y="856800"/>
            <a:ext cx="659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r>
              <a:rPr lang="th-TH" sz="2000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เรื่อง</a:t>
            </a:r>
          </a:p>
          <a:p>
            <a:pPr algn="ctr"/>
            <a:r>
              <a:rPr lang="th-TH" sz="1200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(3</a:t>
            </a:r>
            <a:r>
              <a:rPr lang="en-US" sz="1200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%)</a:t>
            </a:r>
            <a:endParaRPr lang="th-TH" sz="200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56F9720-4D61-8DD4-378D-757F184AE353}"/>
              </a:ext>
            </a:extLst>
          </p:cNvPr>
          <p:cNvSpPr txBox="1"/>
          <p:nvPr/>
        </p:nvSpPr>
        <p:spPr>
          <a:xfrm>
            <a:off x="2859603" y="856484"/>
            <a:ext cx="75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D4AA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10 </a:t>
            </a:r>
            <a:r>
              <a:rPr lang="th-TH" sz="2000" b="1" dirty="0">
                <a:solidFill>
                  <a:srgbClr val="7D4AA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เรื่อง</a:t>
            </a:r>
          </a:p>
          <a:p>
            <a:pPr algn="ctr"/>
            <a:r>
              <a:rPr lang="en-US" sz="1200" b="1" dirty="0">
                <a:solidFill>
                  <a:srgbClr val="7D4AA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(14%)</a:t>
            </a:r>
            <a:endParaRPr lang="th-TH" sz="1200" b="1" dirty="0">
              <a:solidFill>
                <a:srgbClr val="7D4AA8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DFECE66F-6F76-5F3F-875F-63D00307EA77}"/>
              </a:ext>
            </a:extLst>
          </p:cNvPr>
          <p:cNvSpPr txBox="1"/>
          <p:nvPr/>
        </p:nvSpPr>
        <p:spPr>
          <a:xfrm>
            <a:off x="5030035" y="840163"/>
            <a:ext cx="75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C8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59 </a:t>
            </a:r>
            <a:r>
              <a:rPr lang="th-TH" sz="2000" b="1" dirty="0">
                <a:solidFill>
                  <a:srgbClr val="007C8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เรื่อง</a:t>
            </a:r>
          </a:p>
          <a:p>
            <a:pPr algn="ctr"/>
            <a:r>
              <a:rPr lang="en-US" sz="1200" b="1" dirty="0">
                <a:solidFill>
                  <a:srgbClr val="007C8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(83%)</a:t>
            </a:r>
            <a:endParaRPr lang="th-TH" sz="1200" b="1" dirty="0">
              <a:solidFill>
                <a:srgbClr val="007C89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19" name="แผนภูมิ 18">
            <a:extLst>
              <a:ext uri="{FF2B5EF4-FFF2-40B4-BE49-F238E27FC236}">
                <a16:creationId xmlns:a16="http://schemas.microsoft.com/office/drawing/2014/main" id="{44121361-C020-45F8-1657-AA493D409A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5301100"/>
              </p:ext>
            </p:extLst>
          </p:nvPr>
        </p:nvGraphicFramePr>
        <p:xfrm>
          <a:off x="6480785" y="554079"/>
          <a:ext cx="5804271" cy="2042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15F734AD-2480-6740-810B-39E474D0C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28956"/>
              </p:ext>
            </p:extLst>
          </p:nvPr>
        </p:nvGraphicFramePr>
        <p:xfrm>
          <a:off x="8023860" y="2948946"/>
          <a:ext cx="3954780" cy="3786888"/>
        </p:xfrm>
        <a:graphic>
          <a:graphicData uri="http://schemas.openxmlformats.org/drawingml/2006/table">
            <a:tbl>
              <a:tblPr/>
              <a:tblGrid>
                <a:gridCol w="42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ลำดับ</a:t>
                      </a:r>
                      <a:endParaRPr 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เรื่อง</a:t>
                      </a:r>
                      <a:endParaRPr 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กลไก/ครั้งล่าสุด</a:t>
                      </a:r>
                      <a:endParaRPr 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(ร่าง) </a:t>
                      </a: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   กัลปังหา แหล่งหญ้าทะเล สัตว์ทะเลหายากหรือใกล้สูญพันธุ์ สิ่งมีชีวิตในแนวปะการังหรือแหล่งหญ้าทะเล และแหล่งอาศัยหรือหากินของสัตว์ทะเล หายากหรือใกล้สูญพันธุ์ ในพื้นที่ ต.เกาะศรีบอยา อ.เหนือคลอง จ.กระบี่ พ.ศ. .... 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กทช. เห็นชอบ </a:t>
                      </a:r>
                      <a:b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pitchFamily="34" charset="-122"/>
                          <a:cs typeface="TH SarabunPSK" panose="020B0500040200020003" pitchFamily="34" charset="-34"/>
                        </a:rPr>
                        <a:t>5 ก.พ. 2567</a:t>
                      </a: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850162"/>
                  </a:ext>
                </a:extLst>
              </a:tr>
              <a:tr h="24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กัลปังหา สัตว์ทะเลหายากหรือใกล้สูญพันธุ์ หรือสิ่งมีชีวิตในแนวปะการัง ในพื้นที่หมู่เกาะสีชัง อ.เกาะสีชัง จ.ชลบุรี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lang="th-TH" sz="1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มิ.ย. 2567</a:t>
                      </a: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h-TH" sz="1000" b="1" ker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ประกาศกระทรวงฯ เรื่อง กำหนดแนวเขตพื้นที่ และมาตรการคุ้มครองทรัพยากรทางทะเลและชายฝั่ง ประเภทหาด ปะการัง กัลปังหา แหล่งหญ้าทะเล สัตว์ทะเลหายากหรือใกล้สูญพันธุ์ สิ่งมีชีวิตในแนวปะการังหรือแหล่งหญ้าทะเล และแหล่งอาศัยหรือหากินของสัตว์ทะเลหายากหรือใกล้สูญพันธุ์ ในพื้นที่ ต.เกาะสาหร่าย อ.เมือง จ.สตูล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กทช. เห็นชอบ</a:t>
                      </a:r>
                      <a:b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27 มิ.ย. 2567</a:t>
                      </a: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9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</a:t>
                      </a: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แต่งตั้งคณะทำงาน จำนวน 3 ชุด ประกอบด้วย 1) คณะทำงานการพัฒนาคุณภาพชีวิตของชุมชนชายฝั่งมอบหมาย </a:t>
                      </a:r>
                      <a:b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2) คณะทำงานขับเคลื่อนการจัดทำแผนชุมชนชายฝั่ง และ 3) คณะทำงานส่งเสริมการทำงานร่วมกับองค์กรปกครองส่วนท้องถิ่น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1200" dirty="0">
                          <a:solidFill>
                            <a:srgbClr val="FF0000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คอก. ส่งเสริมฯ </a:t>
                      </a:r>
                      <a:br>
                        <a:rPr lang="th-TH" sz="1000" b="1" kern="1200" dirty="0">
                          <a:solidFill>
                            <a:srgbClr val="FF0000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</a:br>
                      <a:r>
                        <a:rPr lang="th-TH" sz="1000" b="1" kern="1200" dirty="0">
                          <a:solidFill>
                            <a:srgbClr val="FF0000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12 ก.ย. 2567</a:t>
                      </a: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(ร่าง) ประกาศกระทรวงทรัพยากรธรรมชาติและสิ่งแวดล้อม เรื่อง มาตรการ คุ้มครองวาฬ บรูด</a:t>
                      </a:r>
                      <a:r>
                        <a:rPr lang="th-TH" sz="1000" b="1" kern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้า</a:t>
                      </a:r>
                      <a:r>
                        <a:rPr lang="th-TH" sz="10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H SarabunPSK" panose="020B0500040200020003" pitchFamily="34" charset="-34"/>
                          <a:ea typeface="Times New Roman" panose="02020603050405020304" pitchFamily="18" charset="0"/>
                          <a:cs typeface="TH SarabunPSK" panose="020B0500040200020003" pitchFamily="34" charset="-34"/>
                        </a:rPr>
                        <a:t>จากกิจกรรมท่องเที่ยว พ.ศ. ....</a:t>
                      </a:r>
                      <a:endParaRPr lang="en-US" sz="1000" b="1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คอก. ทะเล </a:t>
                      </a:r>
                      <a:b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</a:br>
                      <a:r>
                        <a:rPr lang="th-TH" sz="1000" b="1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Tahoma" charset="0"/>
                          <a:cs typeface="TH SarabunPSK" panose="020B0500040200020003" pitchFamily="34" charset="-34"/>
                        </a:rPr>
                        <a:t>10 เม.ย. 2568</a:t>
                      </a: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ea typeface="Tahoma" charset="0"/>
                        <a:cs typeface="TH SarabunPSK" panose="020B0500040200020003" pitchFamily="34" charset="-34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" name="Text 113"/>
          <p:cNvSpPr/>
          <p:nvPr/>
        </p:nvSpPr>
        <p:spPr>
          <a:xfrm>
            <a:off x="8083296" y="3267539"/>
            <a:ext cx="304800" cy="264242"/>
          </a:xfrm>
          <a:prstGeom prst="ellipse">
            <a:avLst/>
          </a:prstGeom>
          <a:solidFill>
            <a:srgbClr val="FF5050"/>
          </a:solidFill>
          <a:ln w="3810">
            <a:solidFill>
              <a:srgbClr val="FF5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050" dirty="0"/>
          </a:p>
        </p:txBody>
      </p:sp>
      <p:sp>
        <p:nvSpPr>
          <p:cNvPr id="120" name="Text 116"/>
          <p:cNvSpPr/>
          <p:nvPr/>
        </p:nvSpPr>
        <p:spPr>
          <a:xfrm>
            <a:off x="8083296" y="4215053"/>
            <a:ext cx="304800" cy="322922"/>
          </a:xfrm>
          <a:prstGeom prst="ellipse">
            <a:avLst/>
          </a:prstGeom>
          <a:solidFill>
            <a:srgbClr val="FF5050"/>
          </a:solidFill>
          <a:ln w="3810">
            <a:solidFill>
              <a:srgbClr val="FF5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  <p:sp>
        <p:nvSpPr>
          <p:cNvPr id="123" name="Text 119"/>
          <p:cNvSpPr/>
          <p:nvPr/>
        </p:nvSpPr>
        <p:spPr>
          <a:xfrm>
            <a:off x="8083296" y="4849683"/>
            <a:ext cx="304800" cy="322921"/>
          </a:xfrm>
          <a:prstGeom prst="ellipse">
            <a:avLst/>
          </a:prstGeom>
          <a:solidFill>
            <a:srgbClr val="FF5050"/>
          </a:solidFill>
          <a:ln w="3810">
            <a:solidFill>
              <a:srgbClr val="FF5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50" dirty="0"/>
          </a:p>
        </p:txBody>
      </p:sp>
      <p:sp>
        <p:nvSpPr>
          <p:cNvPr id="126" name="Text 122"/>
          <p:cNvSpPr/>
          <p:nvPr/>
        </p:nvSpPr>
        <p:spPr>
          <a:xfrm>
            <a:off x="8083296" y="5794916"/>
            <a:ext cx="304800" cy="268036"/>
          </a:xfrm>
          <a:prstGeom prst="ellipse">
            <a:avLst/>
          </a:prstGeom>
          <a:solidFill>
            <a:srgbClr val="FF5050"/>
          </a:solidFill>
          <a:ln w="3810">
            <a:solidFill>
              <a:srgbClr val="FF5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50" dirty="0"/>
          </a:p>
        </p:txBody>
      </p:sp>
      <p:sp>
        <p:nvSpPr>
          <p:cNvPr id="129" name="Text 125"/>
          <p:cNvSpPr/>
          <p:nvPr/>
        </p:nvSpPr>
        <p:spPr>
          <a:xfrm>
            <a:off x="8083296" y="6341241"/>
            <a:ext cx="304800" cy="268036"/>
          </a:xfrm>
          <a:prstGeom prst="ellipse">
            <a:avLst/>
          </a:prstGeom>
          <a:solidFill>
            <a:srgbClr val="FF5050"/>
          </a:solidFill>
          <a:ln w="3810">
            <a:solidFill>
              <a:srgbClr val="FF505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1248" y="6400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สรุปผลการวิเคราะห์</a:t>
            </a:r>
            <a:r>
              <a:rPr lang="en-US" sz="2500" b="1" dirty="0">
                <a:solidFill>
                  <a:srgbClr val="0A2E6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ช่องว่าง และข้อเสนอแนะ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78977" y="46177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</a:t>
            </a:r>
            <a:r>
              <a:rPr lang="th-TH" sz="1260" dirty="0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ผลการวิเคราะห์</a:t>
            </a:r>
            <a:r>
              <a:rPr lang="en-US" sz="1260" dirty="0" err="1">
                <a:solidFill>
                  <a:srgbClr val="07275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เพื่อใช้พัฒนาการดำเนินงานของกลไกในระยะต่อไป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182880" y="918971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สรุปผลการวิเคราะห์</a:t>
            </a:r>
            <a:endParaRPr lang="en-US" sz="1400" dirty="0"/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E6DD5843-480C-BD01-1274-EB24AFDC7641}"/>
              </a:ext>
            </a:extLst>
          </p:cNvPr>
          <p:cNvGrpSpPr/>
          <p:nvPr/>
        </p:nvGrpSpPr>
        <p:grpSpPr>
          <a:xfrm>
            <a:off x="1703193" y="4379987"/>
            <a:ext cx="7837306" cy="2231050"/>
            <a:chOff x="433645" y="4382669"/>
            <a:chExt cx="6922785" cy="2231050"/>
          </a:xfrm>
        </p:grpSpPr>
        <p:grpSp>
          <p:nvGrpSpPr>
            <p:cNvPr id="8" name="กลุ่ม 7">
              <a:extLst>
                <a:ext uri="{FF2B5EF4-FFF2-40B4-BE49-F238E27FC236}">
                  <a16:creationId xmlns:a16="http://schemas.microsoft.com/office/drawing/2014/main" id="{4D63FB65-EA27-A620-4090-ED285C556DF3}"/>
                </a:ext>
              </a:extLst>
            </p:cNvPr>
            <p:cNvGrpSpPr/>
            <p:nvPr/>
          </p:nvGrpSpPr>
          <p:grpSpPr>
            <a:xfrm>
              <a:off x="502783" y="4382669"/>
              <a:ext cx="6853647" cy="2231050"/>
              <a:chOff x="182879" y="4382669"/>
              <a:chExt cx="6853647" cy="2231050"/>
            </a:xfrm>
          </p:grpSpPr>
          <p:sp>
            <p:nvSpPr>
              <p:cNvPr id="87" name="Shape 85"/>
              <p:cNvSpPr/>
              <p:nvPr/>
            </p:nvSpPr>
            <p:spPr>
              <a:xfrm>
                <a:off x="202344" y="4394171"/>
                <a:ext cx="6834182" cy="2219548"/>
              </a:xfrm>
              <a:prstGeom prst="roundRect">
                <a:avLst>
                  <a:gd name="adj" fmla="val 4225"/>
                </a:avLst>
              </a:prstGeom>
              <a:solidFill>
                <a:srgbClr val="FFFFFF"/>
              </a:solidFill>
              <a:ln w="10160">
                <a:solidFill>
                  <a:srgbClr val="1D5EA8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  <p:sp>
            <p:nvSpPr>
              <p:cNvPr id="88" name="Shape 86"/>
              <p:cNvSpPr/>
              <p:nvPr/>
            </p:nvSpPr>
            <p:spPr>
              <a:xfrm>
                <a:off x="182879" y="4382669"/>
                <a:ext cx="6853647" cy="536512"/>
              </a:xfrm>
              <a:prstGeom prst="roundRect">
                <a:avLst>
                  <a:gd name="adj" fmla="val 17857"/>
                </a:avLst>
              </a:prstGeom>
              <a:solidFill>
                <a:srgbClr val="0A2E6D"/>
              </a:solidFill>
              <a:ln w="10160">
                <a:solidFill>
                  <a:srgbClr val="0A2E6D"/>
                </a:solidFill>
                <a:prstDash val="solid"/>
              </a:ln>
            </p:spPr>
            <p:txBody>
              <a:bodyPr/>
              <a:lstStyle/>
              <a:p>
                <a:endParaRPr lang="th-TH"/>
              </a:p>
            </p:txBody>
          </p:sp>
        </p:grpSp>
        <p:sp>
          <p:nvSpPr>
            <p:cNvPr id="89" name="Text 87"/>
            <p:cNvSpPr/>
            <p:nvPr/>
          </p:nvSpPr>
          <p:spPr>
            <a:xfrm>
              <a:off x="433645" y="4473071"/>
              <a:ext cx="6720840" cy="4643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แนวทางพัฒนางานต่อไป</a:t>
              </a:r>
              <a:endParaRPr lang="en-US" dirty="0"/>
            </a:p>
          </p:txBody>
        </p:sp>
      </p:grpSp>
      <p:grpSp>
        <p:nvGrpSpPr>
          <p:cNvPr id="6" name="กลุ่ม 5">
            <a:extLst>
              <a:ext uri="{FF2B5EF4-FFF2-40B4-BE49-F238E27FC236}">
                <a16:creationId xmlns:a16="http://schemas.microsoft.com/office/drawing/2014/main" id="{166B923F-BE7C-AD58-D618-E7CC3427DFAE}"/>
              </a:ext>
            </a:extLst>
          </p:cNvPr>
          <p:cNvGrpSpPr/>
          <p:nvPr/>
        </p:nvGrpSpPr>
        <p:grpSpPr>
          <a:xfrm>
            <a:off x="2391852" y="5073419"/>
            <a:ext cx="422726" cy="408560"/>
            <a:chOff x="749899" y="5069941"/>
            <a:chExt cx="320222" cy="343307"/>
          </a:xfrm>
        </p:grpSpPr>
        <p:sp>
          <p:nvSpPr>
            <p:cNvPr id="90" name="Shape 88"/>
            <p:cNvSpPr/>
            <p:nvPr/>
          </p:nvSpPr>
          <p:spPr>
            <a:xfrm>
              <a:off x="749899" y="5069941"/>
              <a:ext cx="320222" cy="343307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91" name="Text 89"/>
            <p:cNvSpPr/>
            <p:nvPr/>
          </p:nvSpPr>
          <p:spPr>
            <a:xfrm>
              <a:off x="819316" y="5155360"/>
              <a:ext cx="196596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ea typeface="Prompt" pitchFamily="34" charset="-122"/>
                  <a:cs typeface="Prompt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92" name="Shape 90"/>
          <p:cNvSpPr/>
          <p:nvPr/>
        </p:nvSpPr>
        <p:spPr>
          <a:xfrm>
            <a:off x="2004774" y="5611738"/>
            <a:ext cx="1111308" cy="7436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087B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3" name="Text 91"/>
          <p:cNvSpPr/>
          <p:nvPr/>
        </p:nvSpPr>
        <p:spPr>
          <a:xfrm>
            <a:off x="672174" y="4493688"/>
            <a:ext cx="457200" cy="544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4" name="Text 92"/>
          <p:cNvSpPr/>
          <p:nvPr/>
        </p:nvSpPr>
        <p:spPr>
          <a:xfrm>
            <a:off x="1930440" y="5637387"/>
            <a:ext cx="1345551" cy="6032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7275B"/>
                </a:solidFill>
                <a:latin typeface="+mj-lt"/>
                <a:ea typeface="Prompt" pitchFamily="34" charset="-122"/>
                <a:cs typeface="TH SarabunPSK" panose="020B0500040200020003" pitchFamily="34" charset="-34"/>
              </a:rPr>
              <a:t>กำหนดบทบาท</a:t>
            </a:r>
            <a:br>
              <a:rPr lang="th-TH" sz="1600" b="1" dirty="0">
                <a:solidFill>
                  <a:srgbClr val="07275B"/>
                </a:solidFill>
                <a:latin typeface="+mj-lt"/>
                <a:ea typeface="Prompt" pitchFamily="34" charset="-122"/>
                <a:cs typeface="TH SarabunPSK" panose="020B0500040200020003" pitchFamily="34" charset="-34"/>
              </a:rPr>
            </a:br>
            <a:r>
              <a:rPr lang="th-TH" sz="1600" b="1" dirty="0">
                <a:solidFill>
                  <a:srgbClr val="07275B"/>
                </a:solidFill>
                <a:latin typeface="+mj-lt"/>
                <a:ea typeface="Prompt" pitchFamily="34" charset="-122"/>
                <a:cs typeface="TH SarabunPSK" panose="020B0500040200020003" pitchFamily="34" charset="-34"/>
              </a:rPr>
              <a:t>ของแต่ละ</a:t>
            </a:r>
            <a:r>
              <a:rPr lang="en-US" sz="1600" b="1" dirty="0" err="1">
                <a:solidFill>
                  <a:srgbClr val="07275B"/>
                </a:solidFill>
                <a:latin typeface="+mj-lt"/>
                <a:ea typeface="Prompt" pitchFamily="34" charset="-122"/>
                <a:cs typeface="TH SarabunPSK" panose="020B0500040200020003" pitchFamily="34" charset="-34"/>
              </a:rPr>
              <a:t>กลไก</a:t>
            </a:r>
            <a:endParaRPr lang="en-US" sz="1600" b="1" dirty="0">
              <a:latin typeface="+mj-lt"/>
              <a:cs typeface="TH SarabunPSK" panose="020B0500040200020003" pitchFamily="34" charset="-34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3133500" y="6017168"/>
            <a:ext cx="301752" cy="0"/>
          </a:xfrm>
          <a:prstGeom prst="line">
            <a:avLst/>
          </a:prstGeom>
          <a:noFill/>
          <a:ln w="1016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99" name="Text 97"/>
          <p:cNvSpPr/>
          <p:nvPr/>
        </p:nvSpPr>
        <p:spPr>
          <a:xfrm>
            <a:off x="1996312" y="4659141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134747A1-3AFD-397B-F0DE-39F2740350B5}"/>
              </a:ext>
            </a:extLst>
          </p:cNvPr>
          <p:cNvGrpSpPr/>
          <p:nvPr/>
        </p:nvGrpSpPr>
        <p:grpSpPr>
          <a:xfrm>
            <a:off x="3418483" y="5587131"/>
            <a:ext cx="1309343" cy="776463"/>
            <a:chOff x="1728078" y="5568139"/>
            <a:chExt cx="1309343" cy="776463"/>
          </a:xfrm>
        </p:grpSpPr>
        <p:sp>
          <p:nvSpPr>
            <p:cNvPr id="98" name="Shape 96"/>
            <p:cNvSpPr/>
            <p:nvPr/>
          </p:nvSpPr>
          <p:spPr>
            <a:xfrm>
              <a:off x="1728078" y="5586299"/>
              <a:ext cx="1309343" cy="750057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016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1799678" y="5568139"/>
              <a:ext cx="1187573" cy="7764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7275B"/>
                  </a:solidFill>
                  <a:latin typeface="+mj-lt"/>
                  <a:ea typeface="Prompt" pitchFamily="34" charset="-122"/>
                  <a:cs typeface="TH SarabunPSK" panose="020B0500040200020003" pitchFamily="34" charset="-34"/>
                </a:rPr>
                <a:t>กำหนดเกณฑ์</a:t>
              </a:r>
              <a:endParaRPr lang="en-US" sz="1600" b="1" dirty="0">
                <a:latin typeface="+mj-lt"/>
                <a:cs typeface="TH SarabunPSK" panose="020B0500040200020003" pitchFamily="34" charset="-34"/>
              </a:endParaRPr>
            </a:p>
            <a:p>
              <a:pPr marL="0" indent="0" algn="ctr">
                <a:buNone/>
              </a:pPr>
              <a:r>
                <a:rPr lang="th-TH" sz="1600" b="1" dirty="0">
                  <a:solidFill>
                    <a:srgbClr val="07275B"/>
                  </a:solidFill>
                  <a:latin typeface="+mj-lt"/>
                  <a:ea typeface="Prompt" pitchFamily="34" charset="-122"/>
                  <a:cs typeface="TH SarabunPSK" panose="020B0500040200020003" pitchFamily="34" charset="-34"/>
                </a:rPr>
                <a:t>การ</a:t>
              </a:r>
              <a:r>
                <a:rPr lang="en-US" sz="1600" b="1" dirty="0" err="1">
                  <a:solidFill>
                    <a:srgbClr val="07275B"/>
                  </a:solidFill>
                  <a:latin typeface="+mj-lt"/>
                  <a:ea typeface="Prompt" pitchFamily="34" charset="-122"/>
                  <a:cs typeface="TH SarabunPSK" panose="020B0500040200020003" pitchFamily="34" charset="-34"/>
                </a:rPr>
                <a:t>ยกระดับประเด็น</a:t>
              </a:r>
              <a:endParaRPr lang="en-US" sz="1600" b="1" dirty="0">
                <a:latin typeface="+mj-lt"/>
                <a:cs typeface="TH SarabunPSK" panose="020B0500040200020003" pitchFamily="34" charset="-34"/>
              </a:endParaRPr>
            </a:p>
          </p:txBody>
        </p:sp>
      </p:grpSp>
      <p:sp>
        <p:nvSpPr>
          <p:cNvPr id="101" name="Shape 99"/>
          <p:cNvSpPr/>
          <p:nvPr/>
        </p:nvSpPr>
        <p:spPr>
          <a:xfrm>
            <a:off x="4727826" y="6012923"/>
            <a:ext cx="301752" cy="0"/>
          </a:xfrm>
          <a:prstGeom prst="line">
            <a:avLst/>
          </a:prstGeom>
          <a:noFill/>
          <a:ln w="1016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05" name="Text 103"/>
          <p:cNvSpPr/>
          <p:nvPr/>
        </p:nvSpPr>
        <p:spPr>
          <a:xfrm>
            <a:off x="3181023" y="4659141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3AFA75FA-2163-355A-9B50-BA73E2689F98}"/>
              </a:ext>
            </a:extLst>
          </p:cNvPr>
          <p:cNvGrpSpPr/>
          <p:nvPr/>
        </p:nvGrpSpPr>
        <p:grpSpPr>
          <a:xfrm>
            <a:off x="5029578" y="5596212"/>
            <a:ext cx="1239616" cy="758303"/>
            <a:chOff x="2989951" y="5603800"/>
            <a:chExt cx="1239616" cy="758303"/>
          </a:xfrm>
        </p:grpSpPr>
        <p:sp>
          <p:nvSpPr>
            <p:cNvPr id="104" name="Shape 102"/>
            <p:cNvSpPr/>
            <p:nvPr/>
          </p:nvSpPr>
          <p:spPr>
            <a:xfrm>
              <a:off x="2989951" y="5603800"/>
              <a:ext cx="1239616" cy="758303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016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06" name="Text 104"/>
            <p:cNvSpPr/>
            <p:nvPr/>
          </p:nvSpPr>
          <p:spPr>
            <a:xfrm>
              <a:off x="2989951" y="5612294"/>
              <a:ext cx="1224998" cy="732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กำหนดเจ้าภาพ</a:t>
              </a:r>
              <a:endPara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และกลไก</a:t>
              </a:r>
              <a:r>
                <a:rPr lang="th-TH" sz="1600" b="1" dirty="0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ทำงาน</a:t>
              </a:r>
              <a:r>
                <a:rPr lang="en-US" sz="1600" b="1" dirty="0" err="1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ร่วม</a:t>
              </a:r>
              <a:endPara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107" name="Shape 105"/>
          <p:cNvSpPr/>
          <p:nvPr/>
        </p:nvSpPr>
        <p:spPr>
          <a:xfrm>
            <a:off x="6289460" y="6012923"/>
            <a:ext cx="301752" cy="0"/>
          </a:xfrm>
          <a:prstGeom prst="line">
            <a:avLst/>
          </a:prstGeom>
          <a:noFill/>
          <a:ln w="1016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 dirty="0"/>
          </a:p>
        </p:txBody>
      </p:sp>
      <p:sp>
        <p:nvSpPr>
          <p:cNvPr id="111" name="Text 109"/>
          <p:cNvSpPr/>
          <p:nvPr/>
        </p:nvSpPr>
        <p:spPr>
          <a:xfrm>
            <a:off x="4446247" y="463721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A5AEF46A-9631-E223-80E6-FBFEC6A74D2B}"/>
              </a:ext>
            </a:extLst>
          </p:cNvPr>
          <p:cNvGrpSpPr/>
          <p:nvPr/>
        </p:nvGrpSpPr>
        <p:grpSpPr>
          <a:xfrm>
            <a:off x="6562313" y="5601590"/>
            <a:ext cx="1090062" cy="769077"/>
            <a:chOff x="4168214" y="5627150"/>
            <a:chExt cx="1090062" cy="769077"/>
          </a:xfrm>
        </p:grpSpPr>
        <p:sp>
          <p:nvSpPr>
            <p:cNvPr id="110" name="Shape 108"/>
            <p:cNvSpPr/>
            <p:nvPr/>
          </p:nvSpPr>
          <p:spPr>
            <a:xfrm>
              <a:off x="4197113" y="5627150"/>
              <a:ext cx="1053027" cy="769077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016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2" name="Text 110"/>
            <p:cNvSpPr/>
            <p:nvPr/>
          </p:nvSpPr>
          <p:spPr>
            <a:xfrm>
              <a:off x="4168214" y="5865865"/>
              <a:ext cx="1090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เชื่อม</a:t>
              </a:r>
              <a:r>
                <a:rPr lang="th-TH" sz="1600" b="1" dirty="0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โยง</a:t>
              </a:r>
              <a:r>
                <a:rPr lang="en-US" sz="1600" b="1" dirty="0" err="1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มติและติดตามผล</a:t>
              </a:r>
              <a:r>
                <a:rPr lang="th-TH" sz="1600" b="1" dirty="0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ให้ครบ</a:t>
              </a:r>
              <a:endPara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113" name="Shape 111"/>
          <p:cNvSpPr/>
          <p:nvPr/>
        </p:nvSpPr>
        <p:spPr>
          <a:xfrm>
            <a:off x="7666993" y="5978700"/>
            <a:ext cx="301752" cy="0"/>
          </a:xfrm>
          <a:prstGeom prst="line">
            <a:avLst/>
          </a:prstGeom>
          <a:noFill/>
          <a:ln w="10160">
            <a:solidFill>
              <a:srgbClr val="0A2E6D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115" name="Text 113"/>
          <p:cNvSpPr/>
          <p:nvPr/>
        </p:nvSpPr>
        <p:spPr>
          <a:xfrm>
            <a:off x="5856732" y="4350667"/>
            <a:ext cx="1188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5687568" y="4627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AB562F19-F37A-1B27-E769-9065B096F127}"/>
              </a:ext>
            </a:extLst>
          </p:cNvPr>
          <p:cNvGrpSpPr/>
          <p:nvPr/>
        </p:nvGrpSpPr>
        <p:grpSpPr>
          <a:xfrm>
            <a:off x="7989011" y="5586300"/>
            <a:ext cx="1271224" cy="784368"/>
            <a:chOff x="5720939" y="5595257"/>
            <a:chExt cx="1271224" cy="810469"/>
          </a:xfrm>
        </p:grpSpPr>
        <p:sp>
          <p:nvSpPr>
            <p:cNvPr id="116" name="Shape 114"/>
            <p:cNvSpPr/>
            <p:nvPr/>
          </p:nvSpPr>
          <p:spPr>
            <a:xfrm>
              <a:off x="5720939" y="5595257"/>
              <a:ext cx="1271224" cy="810469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016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18" name="Text 116"/>
            <p:cNvSpPr/>
            <p:nvPr/>
          </p:nvSpPr>
          <p:spPr>
            <a:xfrm>
              <a:off x="5830667" y="5723101"/>
              <a:ext cx="1161496" cy="526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 err="1">
                  <a:solidFill>
                    <a:srgbClr val="07275B"/>
                  </a:solidFill>
                  <a:latin typeface="TH SarabunPSK" panose="020B0500040200020003" pitchFamily="34" charset="-34"/>
                  <a:ea typeface="Prompt" pitchFamily="34" charset="-122"/>
                  <a:cs typeface="TH SarabunPSK" panose="020B0500040200020003" pitchFamily="34" charset="-34"/>
                </a:rPr>
                <a:t>พัฒนาระบบข้อมูลอย่างต่อเนื่อง</a:t>
              </a:r>
              <a:endPara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pic>
        <p:nvPicPr>
          <p:cNvPr id="131" name="รูปภาพ 130">
            <a:extLst>
              <a:ext uri="{FF2B5EF4-FFF2-40B4-BE49-F238E27FC236}">
                <a16:creationId xmlns:a16="http://schemas.microsoft.com/office/drawing/2014/main" id="{E3999736-CDC3-47E0-8A89-8B1725636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99" y="139973"/>
            <a:ext cx="415681" cy="533506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D98781FC-E1EC-A00A-D01F-A5ED312C6FDD}"/>
              </a:ext>
            </a:extLst>
          </p:cNvPr>
          <p:cNvSpPr/>
          <p:nvPr/>
        </p:nvSpPr>
        <p:spPr>
          <a:xfrm>
            <a:off x="182880" y="761510"/>
            <a:ext cx="11795760" cy="0"/>
          </a:xfrm>
          <a:prstGeom prst="line">
            <a:avLst/>
          </a:prstGeom>
          <a:noFill/>
          <a:ln w="12700">
            <a:solidFill>
              <a:srgbClr val="06336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graphicFrame>
        <p:nvGraphicFramePr>
          <p:cNvPr id="3" name="ตาราง 5">
            <a:extLst>
              <a:ext uri="{FF2B5EF4-FFF2-40B4-BE49-F238E27FC236}">
                <a16:creationId xmlns:a16="http://schemas.microsoft.com/office/drawing/2014/main" id="{628EBC32-A189-8E4E-EE91-ACB8CCAA7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831583"/>
              </p:ext>
            </p:extLst>
          </p:nvPr>
        </p:nvGraphicFramePr>
        <p:xfrm>
          <a:off x="237058" y="1530306"/>
          <a:ext cx="1157226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827">
                  <a:extLst>
                    <a:ext uri="{9D8B030D-6E8A-4147-A177-3AD203B41FA5}">
                      <a16:colId xmlns:a16="http://schemas.microsoft.com/office/drawing/2014/main" val="2379186450"/>
                    </a:ext>
                  </a:extLst>
                </a:gridCol>
                <a:gridCol w="3324039">
                  <a:extLst>
                    <a:ext uri="{9D8B030D-6E8A-4147-A177-3AD203B41FA5}">
                      <a16:colId xmlns:a16="http://schemas.microsoft.com/office/drawing/2014/main" val="1937583234"/>
                    </a:ext>
                  </a:extLst>
                </a:gridCol>
                <a:gridCol w="3578980">
                  <a:extLst>
                    <a:ext uri="{9D8B030D-6E8A-4147-A177-3AD203B41FA5}">
                      <a16:colId xmlns:a16="http://schemas.microsoft.com/office/drawing/2014/main" val="3142756323"/>
                    </a:ext>
                  </a:extLst>
                </a:gridCol>
                <a:gridCol w="4010416">
                  <a:extLst>
                    <a:ext uri="{9D8B030D-6E8A-4147-A177-3AD203B41FA5}">
                      <a16:colId xmlns:a16="http://schemas.microsoft.com/office/drawing/2014/main" val="504925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ผลการวิเคราะห์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ช่องว่างที่พบ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ข้อเสนอแนะ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3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กลไกมีการแบ่งบทบาทตามโครงสร้าง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ลักษณะวาระยังไม่สะท้อนบทบาทเต็มที่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กำหนดบทบาทและผลผลิตของแต่ละกลไกให้ชัด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21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แต่ละระดับมีลำดับการทำงานภายใน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ความเชื่อมโยงชาติ-จังหวัดยังไม่ครบวงจร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กำหนดหลักเกณฑ์ยกระดับประเด็นและการรายงานผลกลับ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120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วาระตามกฎหมายมีเส้นทางชัด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การแก้ปัญหาทรัพยากรทั่วไปยังขาดเกณฑ์ยกระดับ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กำหนดเงื่อนไขยกระดับวาระเพื่อทราบเป็นเพื่อพิจารณา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ประเด็นหนึ่งอาจผ่านหลายกลไก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ยังไม่เห็นว่าแต่ละกลไกเพิ่มคุณค่าอย่างไร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กำหนดผลที่คาดหวังจากการพิจารณาแต่ละระดับ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33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กลไกเฉพาะด้านช่วยให้พิจารณาเชิงลึก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ประเด็นข้ามด้านยังขาดเจ้าภาพหลัก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กำหนดเจ้าภาพหลักและกลไกร่วม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9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มีมติและข้อสั่งการ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การติดตามผลกลับยังไม่ต่อเนื่อง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เชื่อมมติ ผู้รับผิดชอบ ขั้นตอนถัดไป และการรายงานผล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015598"/>
                  </a:ext>
                </a:extLst>
              </a:tr>
            </a:tbl>
          </a:graphicData>
        </a:graphic>
      </p:graphicFrame>
      <p:grpSp>
        <p:nvGrpSpPr>
          <p:cNvPr id="14" name="กลุ่ม 13">
            <a:extLst>
              <a:ext uri="{FF2B5EF4-FFF2-40B4-BE49-F238E27FC236}">
                <a16:creationId xmlns:a16="http://schemas.microsoft.com/office/drawing/2014/main" id="{9780CD85-29D0-E962-39C1-081CDF2DD871}"/>
              </a:ext>
            </a:extLst>
          </p:cNvPr>
          <p:cNvGrpSpPr/>
          <p:nvPr/>
        </p:nvGrpSpPr>
        <p:grpSpPr>
          <a:xfrm>
            <a:off x="8401712" y="5061783"/>
            <a:ext cx="422726" cy="408560"/>
            <a:chOff x="749899" y="5069941"/>
            <a:chExt cx="320222" cy="343307"/>
          </a:xfrm>
        </p:grpSpPr>
        <p:sp>
          <p:nvSpPr>
            <p:cNvPr id="15" name="Shape 88">
              <a:extLst>
                <a:ext uri="{FF2B5EF4-FFF2-40B4-BE49-F238E27FC236}">
                  <a16:creationId xmlns:a16="http://schemas.microsoft.com/office/drawing/2014/main" id="{872D1605-67C3-D1CA-B836-C28079BA5274}"/>
                </a:ext>
              </a:extLst>
            </p:cNvPr>
            <p:cNvSpPr/>
            <p:nvPr/>
          </p:nvSpPr>
          <p:spPr>
            <a:xfrm>
              <a:off x="749899" y="5069941"/>
              <a:ext cx="320222" cy="343307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 89">
              <a:extLst>
                <a:ext uri="{FF2B5EF4-FFF2-40B4-BE49-F238E27FC236}">
                  <a16:creationId xmlns:a16="http://schemas.microsoft.com/office/drawing/2014/main" id="{7373B448-A511-ACCD-A5D8-624BA607733E}"/>
                </a:ext>
              </a:extLst>
            </p:cNvPr>
            <p:cNvSpPr/>
            <p:nvPr/>
          </p:nvSpPr>
          <p:spPr>
            <a:xfrm>
              <a:off x="819316" y="5155360"/>
              <a:ext cx="196596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5</a:t>
              </a:r>
              <a:endParaRPr lang="en-US" sz="1200" dirty="0"/>
            </a:p>
          </p:txBody>
        </p:sp>
      </p:grpSp>
      <p:grpSp>
        <p:nvGrpSpPr>
          <p:cNvPr id="17" name="กลุ่ม 16">
            <a:extLst>
              <a:ext uri="{FF2B5EF4-FFF2-40B4-BE49-F238E27FC236}">
                <a16:creationId xmlns:a16="http://schemas.microsoft.com/office/drawing/2014/main" id="{96C4BEF0-B3D0-D8D1-266E-0D0AB440F634}"/>
              </a:ext>
            </a:extLst>
          </p:cNvPr>
          <p:cNvGrpSpPr/>
          <p:nvPr/>
        </p:nvGrpSpPr>
        <p:grpSpPr>
          <a:xfrm>
            <a:off x="6895981" y="5061783"/>
            <a:ext cx="422726" cy="408560"/>
            <a:chOff x="749899" y="5069941"/>
            <a:chExt cx="320222" cy="343307"/>
          </a:xfrm>
        </p:grpSpPr>
        <p:sp>
          <p:nvSpPr>
            <p:cNvPr id="18" name="Shape 88">
              <a:extLst>
                <a:ext uri="{FF2B5EF4-FFF2-40B4-BE49-F238E27FC236}">
                  <a16:creationId xmlns:a16="http://schemas.microsoft.com/office/drawing/2014/main" id="{29CC5882-77B1-D867-3B7C-8D95B5FECF73}"/>
                </a:ext>
              </a:extLst>
            </p:cNvPr>
            <p:cNvSpPr/>
            <p:nvPr/>
          </p:nvSpPr>
          <p:spPr>
            <a:xfrm>
              <a:off x="749899" y="5069941"/>
              <a:ext cx="320222" cy="343307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9" name="Text 89">
              <a:extLst>
                <a:ext uri="{FF2B5EF4-FFF2-40B4-BE49-F238E27FC236}">
                  <a16:creationId xmlns:a16="http://schemas.microsoft.com/office/drawing/2014/main" id="{647A7C86-4E87-F6E9-8167-1E670606D4C8}"/>
                </a:ext>
              </a:extLst>
            </p:cNvPr>
            <p:cNvSpPr/>
            <p:nvPr/>
          </p:nvSpPr>
          <p:spPr>
            <a:xfrm>
              <a:off x="819316" y="5155360"/>
              <a:ext cx="196596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4</a:t>
              </a:r>
              <a:endParaRPr lang="en-US" sz="1200" dirty="0"/>
            </a:p>
          </p:txBody>
        </p:sp>
      </p:grpSp>
      <p:grpSp>
        <p:nvGrpSpPr>
          <p:cNvPr id="20" name="กลุ่ม 19">
            <a:extLst>
              <a:ext uri="{FF2B5EF4-FFF2-40B4-BE49-F238E27FC236}">
                <a16:creationId xmlns:a16="http://schemas.microsoft.com/office/drawing/2014/main" id="{0C5A5791-2767-1E65-FC76-C30F3DFEAA8E}"/>
              </a:ext>
            </a:extLst>
          </p:cNvPr>
          <p:cNvGrpSpPr/>
          <p:nvPr/>
        </p:nvGrpSpPr>
        <p:grpSpPr>
          <a:xfrm>
            <a:off x="5415897" y="5056151"/>
            <a:ext cx="422726" cy="408560"/>
            <a:chOff x="749899" y="5069941"/>
            <a:chExt cx="320222" cy="343307"/>
          </a:xfrm>
        </p:grpSpPr>
        <p:sp>
          <p:nvSpPr>
            <p:cNvPr id="21" name="Shape 88">
              <a:extLst>
                <a:ext uri="{FF2B5EF4-FFF2-40B4-BE49-F238E27FC236}">
                  <a16:creationId xmlns:a16="http://schemas.microsoft.com/office/drawing/2014/main" id="{0CFE0D7C-D27E-5A18-41BD-7DA8DE8CEF9A}"/>
                </a:ext>
              </a:extLst>
            </p:cNvPr>
            <p:cNvSpPr/>
            <p:nvPr/>
          </p:nvSpPr>
          <p:spPr>
            <a:xfrm>
              <a:off x="749899" y="5069941"/>
              <a:ext cx="320222" cy="343307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22" name="Text 89">
              <a:extLst>
                <a:ext uri="{FF2B5EF4-FFF2-40B4-BE49-F238E27FC236}">
                  <a16:creationId xmlns:a16="http://schemas.microsoft.com/office/drawing/2014/main" id="{CB9428BB-8435-10E4-A26C-11A21F6C9249}"/>
                </a:ext>
              </a:extLst>
            </p:cNvPr>
            <p:cNvSpPr/>
            <p:nvPr/>
          </p:nvSpPr>
          <p:spPr>
            <a:xfrm>
              <a:off x="819316" y="5155360"/>
              <a:ext cx="196596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3</a:t>
              </a:r>
              <a:endParaRPr lang="en-US" sz="1200" dirty="0"/>
            </a:p>
          </p:txBody>
        </p:sp>
      </p:grpSp>
      <p:grpSp>
        <p:nvGrpSpPr>
          <p:cNvPr id="132" name="กลุ่ม 131">
            <a:extLst>
              <a:ext uri="{FF2B5EF4-FFF2-40B4-BE49-F238E27FC236}">
                <a16:creationId xmlns:a16="http://schemas.microsoft.com/office/drawing/2014/main" id="{8A6814FB-230E-807A-9212-E55F237C65B2}"/>
              </a:ext>
            </a:extLst>
          </p:cNvPr>
          <p:cNvGrpSpPr/>
          <p:nvPr/>
        </p:nvGrpSpPr>
        <p:grpSpPr>
          <a:xfrm>
            <a:off x="3836911" y="5064520"/>
            <a:ext cx="422726" cy="408560"/>
            <a:chOff x="749899" y="5069941"/>
            <a:chExt cx="320222" cy="343307"/>
          </a:xfrm>
        </p:grpSpPr>
        <p:sp>
          <p:nvSpPr>
            <p:cNvPr id="133" name="Shape 88">
              <a:extLst>
                <a:ext uri="{FF2B5EF4-FFF2-40B4-BE49-F238E27FC236}">
                  <a16:creationId xmlns:a16="http://schemas.microsoft.com/office/drawing/2014/main" id="{4ECD1E0C-FD72-FF82-5849-DB1E6D2D4788}"/>
                </a:ext>
              </a:extLst>
            </p:cNvPr>
            <p:cNvSpPr/>
            <p:nvPr/>
          </p:nvSpPr>
          <p:spPr>
            <a:xfrm>
              <a:off x="749899" y="5069941"/>
              <a:ext cx="320222" cy="343307"/>
            </a:xfrm>
            <a:prstGeom prst="ellipse">
              <a:avLst/>
            </a:prstGeom>
            <a:solidFill>
              <a:srgbClr val="087B8C"/>
            </a:solidFill>
            <a:ln w="12700">
              <a:solidFill>
                <a:srgbClr val="087B8C"/>
              </a:solidFill>
              <a:prstDash val="solid"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4" name="Text 89">
              <a:extLst>
                <a:ext uri="{FF2B5EF4-FFF2-40B4-BE49-F238E27FC236}">
                  <a16:creationId xmlns:a16="http://schemas.microsoft.com/office/drawing/2014/main" id="{B22A81D6-D7D8-33A4-59D9-C706D2FA1C10}"/>
                </a:ext>
              </a:extLst>
            </p:cNvPr>
            <p:cNvSpPr/>
            <p:nvPr/>
          </p:nvSpPr>
          <p:spPr>
            <a:xfrm>
              <a:off x="819316" y="5155360"/>
              <a:ext cx="196596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Prompt" pitchFamily="34" charset="0"/>
                  <a:cs typeface="Prompt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7" name="Shape 86">
            <a:extLst>
              <a:ext uri="{FF2B5EF4-FFF2-40B4-BE49-F238E27FC236}">
                <a16:creationId xmlns:a16="http://schemas.microsoft.com/office/drawing/2014/main" id="{F965BABB-5C74-425A-353E-8B269470752C}"/>
              </a:ext>
            </a:extLst>
          </p:cNvPr>
          <p:cNvSpPr/>
          <p:nvPr/>
        </p:nvSpPr>
        <p:spPr>
          <a:xfrm>
            <a:off x="219232" y="985239"/>
            <a:ext cx="11572262" cy="553037"/>
          </a:xfrm>
          <a:prstGeom prst="roundRect">
            <a:avLst>
              <a:gd name="adj" fmla="val 17857"/>
            </a:avLst>
          </a:prstGeom>
          <a:solidFill>
            <a:srgbClr val="0A2E6D"/>
          </a:solidFill>
          <a:ln w="10160">
            <a:solidFill>
              <a:srgbClr val="0A2E6D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0" name="Text 87">
            <a:extLst>
              <a:ext uri="{FF2B5EF4-FFF2-40B4-BE49-F238E27FC236}">
                <a16:creationId xmlns:a16="http://schemas.microsoft.com/office/drawing/2014/main" id="{8FA6B0AD-1B8B-51E5-29F6-3F9FB8B48CEE}"/>
              </a:ext>
            </a:extLst>
          </p:cNvPr>
          <p:cNvSpPr/>
          <p:nvPr/>
        </p:nvSpPr>
        <p:spPr>
          <a:xfrm>
            <a:off x="2327148" y="993089"/>
            <a:ext cx="6720840" cy="52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th-TH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สรุปผลการวิเคราะห์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2506</Words>
  <Application>Microsoft Office PowerPoint</Application>
  <PresentationFormat>แบบจอกว้าง</PresentationFormat>
  <Paragraphs>395</Paragraphs>
  <Slides>5</Slides>
  <Notes>5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</vt:i4>
      </vt:variant>
    </vt:vector>
  </HeadingPairs>
  <TitlesOfParts>
    <vt:vector size="11" baseType="lpstr">
      <vt:lpstr>Arial</vt:lpstr>
      <vt:lpstr>Calibri</vt:lpstr>
      <vt:lpstr>Prompt</vt:lpstr>
      <vt:lpstr>Tahoma</vt:lpstr>
      <vt:lpstr>TH SarabunPSK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Dashboard Templates - Marine and Coastal Committee Mechanisms</dc:title>
  <dc:subject>Dashboard templates for executive briefing</dc:subject>
  <dc:creator>OpenAI</dc:creator>
  <cp:lastModifiedBy>ONMBDMCR onmbdmcr</cp:lastModifiedBy>
  <cp:revision>8</cp:revision>
  <dcterms:created xsi:type="dcterms:W3CDTF">2026-07-13T08:52:24Z</dcterms:created>
  <dcterms:modified xsi:type="dcterms:W3CDTF">2026-08-05T08:10:50Z</dcterms:modified>
</cp:coreProperties>
</file>